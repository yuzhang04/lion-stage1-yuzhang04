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87" userDrawn="1">
          <p15:clr>
            <a:srgbClr val="A4A3A4"/>
          </p15:clr>
        </p15:guide>
        <p15:guide id="4" pos="393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orient="horz" pos="799" userDrawn="1">
          <p15:clr>
            <a:srgbClr val="A4A3A4"/>
          </p15:clr>
        </p15:guide>
        <p15:guide id="7" orient="horz" pos="3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97AF"/>
    <a:srgbClr val="FDC43E"/>
    <a:srgbClr val="175F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372" y="102"/>
      </p:cViewPr>
      <p:guideLst>
        <p:guide orient="horz" pos="2160"/>
        <p:guide pos="3840"/>
        <p:guide pos="7287"/>
        <p:guide pos="393"/>
        <p:guide orient="horz" pos="3974"/>
        <p:guide orient="horz" pos="799"/>
        <p:guide orient="horz" pos="3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6"/>
          <p:cNvSpPr/>
          <p:nvPr userDrawn="1"/>
        </p:nvSpPr>
        <p:spPr>
          <a:xfrm rot="16200000">
            <a:off x="3947886" y="-3947886"/>
            <a:ext cx="4296230" cy="12192000"/>
          </a:xfrm>
          <a:custGeom>
            <a:avLst/>
            <a:gdLst>
              <a:gd name="connsiteX0" fmla="*/ 3962400 w 3962400"/>
              <a:gd name="connsiteY0" fmla="*/ 0 h 12192000"/>
              <a:gd name="connsiteX1" fmla="*/ 3962400 w 3962400"/>
              <a:gd name="connsiteY1" fmla="*/ 12192000 h 12192000"/>
              <a:gd name="connsiteX2" fmla="*/ 0 w 3962400"/>
              <a:gd name="connsiteY2" fmla="*/ 12192000 h 12192000"/>
              <a:gd name="connsiteX3" fmla="*/ 1360488 w 39624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2400" h="12192000">
                <a:moveTo>
                  <a:pt x="3962400" y="0"/>
                </a:moveTo>
                <a:lnTo>
                  <a:pt x="3962400" y="12192000"/>
                </a:lnTo>
                <a:lnTo>
                  <a:pt x="0" y="12192000"/>
                </a:lnTo>
                <a:lnTo>
                  <a:pt x="1360488" y="0"/>
                </a:lnTo>
                <a:close/>
              </a:path>
            </a:pathLst>
          </a:custGeom>
          <a:solidFill>
            <a:srgbClr val="8097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7"/>
          <p:cNvSpPr/>
          <p:nvPr userDrawn="1"/>
        </p:nvSpPr>
        <p:spPr>
          <a:xfrm>
            <a:off x="544754" y="682259"/>
            <a:ext cx="11102492" cy="5493482"/>
          </a:xfrm>
          <a:prstGeom prst="rect">
            <a:avLst/>
          </a:prstGeom>
          <a:solidFill>
            <a:schemeClr val="bg1"/>
          </a:solidFill>
          <a:ln>
            <a:solidFill>
              <a:srgbClr val="8097A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6"/>
          <p:cNvSpPr/>
          <p:nvPr userDrawn="1"/>
        </p:nvSpPr>
        <p:spPr>
          <a:xfrm rot="16200000">
            <a:off x="3947886" y="-3947886"/>
            <a:ext cx="4296230" cy="12192000"/>
          </a:xfrm>
          <a:custGeom>
            <a:avLst/>
            <a:gdLst>
              <a:gd name="connsiteX0" fmla="*/ 3962400 w 3962400"/>
              <a:gd name="connsiteY0" fmla="*/ 0 h 12192000"/>
              <a:gd name="connsiteX1" fmla="*/ 3962400 w 3962400"/>
              <a:gd name="connsiteY1" fmla="*/ 12192000 h 12192000"/>
              <a:gd name="connsiteX2" fmla="*/ 0 w 3962400"/>
              <a:gd name="connsiteY2" fmla="*/ 12192000 h 12192000"/>
              <a:gd name="connsiteX3" fmla="*/ 1360488 w 39624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2400" h="12192000">
                <a:moveTo>
                  <a:pt x="3962400" y="0"/>
                </a:moveTo>
                <a:lnTo>
                  <a:pt x="3962400" y="12192000"/>
                </a:lnTo>
                <a:lnTo>
                  <a:pt x="0" y="12192000"/>
                </a:lnTo>
                <a:lnTo>
                  <a:pt x="1360488" y="0"/>
                </a:lnTo>
                <a:close/>
              </a:path>
            </a:pathLst>
          </a:custGeom>
          <a:solidFill>
            <a:srgbClr val="8097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181429" y="221343"/>
            <a:ext cx="11829143" cy="6415314"/>
          </a:xfrm>
          <a:prstGeom prst="rect">
            <a:avLst/>
          </a:prstGeom>
          <a:solidFill>
            <a:schemeClr val="bg1"/>
          </a:solidFill>
          <a:ln>
            <a:solidFill>
              <a:srgbClr val="8097A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"/>
          <p:cNvSpPr txBox="1"/>
          <p:nvPr/>
        </p:nvSpPr>
        <p:spPr>
          <a:xfrm>
            <a:off x="2679334" y="2620300"/>
            <a:ext cx="68333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i="0" dirty="0">
                <a:solidFill>
                  <a:srgbClr val="8097AF"/>
                </a:solidFill>
                <a:latin typeface="微软雅黑" panose="020B0503020204020204" charset="-122"/>
                <a:cs typeface="+mn-ea"/>
                <a:sym typeface="+mn-lt"/>
              </a:rPr>
              <a:t>LION 组会汇报①</a:t>
            </a:r>
            <a:endParaRPr lang="zh-CN" altLang="en-US" sz="6600" b="1" i="0" dirty="0">
              <a:solidFill>
                <a:srgbClr val="8097AF"/>
              </a:solidFill>
              <a:latin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" name="组合 13"/>
          <p:cNvGrpSpPr/>
          <p:nvPr/>
        </p:nvGrpSpPr>
        <p:grpSpPr>
          <a:xfrm>
            <a:off x="3425648" y="4853235"/>
            <a:ext cx="5340704" cy="396068"/>
            <a:chOff x="3425648" y="3793648"/>
            <a:chExt cx="5340704" cy="396068"/>
          </a:xfrm>
        </p:grpSpPr>
        <p:sp>
          <p:nvSpPr>
            <p:cNvPr id="4" name="圆角矩形 6"/>
            <p:cNvSpPr>
              <a:spLocks noChangeArrowheads="1"/>
            </p:cNvSpPr>
            <p:nvPr/>
          </p:nvSpPr>
          <p:spPr bwMode="auto">
            <a:xfrm>
              <a:off x="3425648" y="3793648"/>
              <a:ext cx="5340704" cy="396068"/>
            </a:xfrm>
            <a:prstGeom prst="roundRect">
              <a:avLst>
                <a:gd name="adj" fmla="val 50000"/>
              </a:avLst>
            </a:prstGeom>
            <a:solidFill>
              <a:srgbClr val="8097AF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zh-CN" altLang="en-US" sz="2000" spc="1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" name="文本框 17"/>
            <p:cNvSpPr txBox="1"/>
            <p:nvPr/>
          </p:nvSpPr>
          <p:spPr>
            <a:xfrm>
              <a:off x="4368801" y="3807532"/>
              <a:ext cx="3454400" cy="3683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chemeClr val="accent1"/>
                  </a:solidFill>
                  <a:effectLst>
                    <a:outerShdw dist="63500" dir="5400000" algn="tl" rotWithShape="0">
                      <a:prstClr val="black">
                        <a:alpha val="10000"/>
                      </a:prstClr>
                    </a:outerShdw>
                  </a:effectLst>
                  <a:latin typeface="DIN-BlackItalic" pitchFamily="50" charset="0"/>
                  <a:ea typeface="+mj-ea"/>
                </a:defRPr>
              </a:lvl1pPr>
            </a:lstStyle>
            <a:p>
              <a:pPr algn="l"/>
              <a:r>
                <a:rPr lang="zh-CN" sz="1800" b="0" i="0">
                  <a:solidFill>
                    <a:srgbClr val="44546A">
                      <a:alpha val="100000"/>
                    </a:srgb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Segoe UI" panose="020B0502040204020203"/>
                </a:rPr>
                <a:t>汇报人：张雨   阶段：Stage 1   </a:t>
              </a:r>
              <a:endParaRPr lang="zh-CN" sz="1800" b="0" i="0">
                <a:solidFill>
                  <a:srgbClr val="44546A">
                    <a:alpha val="100000"/>
                  </a:srgb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egoe UI" panose="020B0502040204020203"/>
              </a:endParaRPr>
            </a:p>
          </p:txBody>
        </p:sp>
      </p:grpSp>
      <p:sp>
        <p:nvSpPr>
          <p:cNvPr id="6" name="图形 24"/>
          <p:cNvSpPr/>
          <p:nvPr/>
        </p:nvSpPr>
        <p:spPr>
          <a:xfrm>
            <a:off x="5318113" y="1608697"/>
            <a:ext cx="1555774" cy="855169"/>
          </a:xfrm>
          <a:custGeom>
            <a:avLst/>
            <a:gdLst>
              <a:gd name="connsiteX0" fmla="*/ 543428 w 576238"/>
              <a:gd name="connsiteY0" fmla="*/ 274208 h 355968"/>
              <a:gd name="connsiteX1" fmla="*/ 543428 w 576238"/>
              <a:gd name="connsiteY1" fmla="*/ 338693 h 355968"/>
              <a:gd name="connsiteX2" fmla="*/ 541442 w 576238"/>
              <a:gd name="connsiteY2" fmla="*/ 343653 h 355968"/>
              <a:gd name="connsiteX3" fmla="*/ 535484 w 576238"/>
              <a:gd name="connsiteY3" fmla="*/ 345637 h 355968"/>
              <a:gd name="connsiteX4" fmla="*/ 517608 w 576238"/>
              <a:gd name="connsiteY4" fmla="*/ 354566 h 355968"/>
              <a:gd name="connsiteX5" fmla="*/ 512643 w 576238"/>
              <a:gd name="connsiteY5" fmla="*/ 355558 h 355968"/>
              <a:gd name="connsiteX6" fmla="*/ 509663 w 576238"/>
              <a:gd name="connsiteY6" fmla="*/ 350598 h 355968"/>
              <a:gd name="connsiteX7" fmla="*/ 514629 w 576238"/>
              <a:gd name="connsiteY7" fmla="*/ 277184 h 355968"/>
              <a:gd name="connsiteX8" fmla="*/ 543428 w 576238"/>
              <a:gd name="connsiteY8" fmla="*/ 274208 h 355968"/>
              <a:gd name="connsiteX9" fmla="*/ 288119 w 576238"/>
              <a:gd name="connsiteY9" fmla="*/ 251378 h 355968"/>
              <a:gd name="connsiteX10" fmla="*/ 126176 w 576238"/>
              <a:gd name="connsiteY10" fmla="*/ 274185 h 355968"/>
              <a:gd name="connsiteX11" fmla="*/ 288119 w 576238"/>
              <a:gd name="connsiteY11" fmla="*/ 296001 h 355968"/>
              <a:gd name="connsiteX12" fmla="*/ 450062 w 576238"/>
              <a:gd name="connsiteY12" fmla="*/ 274185 h 355968"/>
              <a:gd name="connsiteX13" fmla="*/ 288119 w 576238"/>
              <a:gd name="connsiteY13" fmla="*/ 251378 h 355968"/>
              <a:gd name="connsiteX14" fmla="*/ 288119 w 576238"/>
              <a:gd name="connsiteY14" fmla="*/ 126432 h 355968"/>
              <a:gd name="connsiteX15" fmla="*/ 111273 w 576238"/>
              <a:gd name="connsiteY15" fmla="*/ 178989 h 355968"/>
              <a:gd name="connsiteX16" fmla="*/ 111273 w 576238"/>
              <a:gd name="connsiteY16" fmla="*/ 190888 h 355968"/>
              <a:gd name="connsiteX17" fmla="*/ 288119 w 576238"/>
              <a:gd name="connsiteY17" fmla="*/ 144282 h 355968"/>
              <a:gd name="connsiteX18" fmla="*/ 464964 w 576238"/>
              <a:gd name="connsiteY18" fmla="*/ 190888 h 355968"/>
              <a:gd name="connsiteX19" fmla="*/ 464964 w 576238"/>
              <a:gd name="connsiteY19" fmla="*/ 178989 h 355968"/>
              <a:gd name="connsiteX20" fmla="*/ 288119 w 576238"/>
              <a:gd name="connsiteY20" fmla="*/ 126432 h 355968"/>
              <a:gd name="connsiteX21" fmla="*/ 288119 w 576238"/>
              <a:gd name="connsiteY21" fmla="*/ 0 h 355968"/>
              <a:gd name="connsiteX22" fmla="*/ 306002 w 576238"/>
              <a:gd name="connsiteY22" fmla="*/ 4462 h 355968"/>
              <a:gd name="connsiteX23" fmla="*/ 569284 w 576238"/>
              <a:gd name="connsiteY23" fmla="*/ 144282 h 355968"/>
              <a:gd name="connsiteX24" fmla="*/ 576238 w 576238"/>
              <a:gd name="connsiteY24" fmla="*/ 155190 h 355968"/>
              <a:gd name="connsiteX25" fmla="*/ 569284 w 576238"/>
              <a:gd name="connsiteY25" fmla="*/ 166098 h 355968"/>
              <a:gd name="connsiteX26" fmla="*/ 533517 w 576238"/>
              <a:gd name="connsiteY26" fmla="*/ 185930 h 355968"/>
              <a:gd name="connsiteX27" fmla="*/ 533517 w 576238"/>
              <a:gd name="connsiteY27" fmla="*/ 243445 h 355968"/>
              <a:gd name="connsiteX28" fmla="*/ 543452 w 576238"/>
              <a:gd name="connsiteY28" fmla="*/ 258319 h 355968"/>
              <a:gd name="connsiteX29" fmla="*/ 527556 w 576238"/>
              <a:gd name="connsiteY29" fmla="*/ 274185 h 355968"/>
              <a:gd name="connsiteX30" fmla="*/ 511660 w 576238"/>
              <a:gd name="connsiteY30" fmla="*/ 258319 h 355968"/>
              <a:gd name="connsiteX31" fmla="*/ 521595 w 576238"/>
              <a:gd name="connsiteY31" fmla="*/ 243445 h 355968"/>
              <a:gd name="connsiteX32" fmla="*/ 521595 w 576238"/>
              <a:gd name="connsiteY32" fmla="*/ 192872 h 355968"/>
              <a:gd name="connsiteX33" fmla="*/ 470925 w 576238"/>
              <a:gd name="connsiteY33" fmla="*/ 223612 h 355968"/>
              <a:gd name="connsiteX34" fmla="*/ 470925 w 576238"/>
              <a:gd name="connsiteY34" fmla="*/ 274185 h 355968"/>
              <a:gd name="connsiteX35" fmla="*/ 288119 w 576238"/>
              <a:gd name="connsiteY35" fmla="*/ 309884 h 355968"/>
              <a:gd name="connsiteX36" fmla="*/ 106306 w 576238"/>
              <a:gd name="connsiteY36" fmla="*/ 274185 h 355968"/>
              <a:gd name="connsiteX37" fmla="*/ 105312 w 576238"/>
              <a:gd name="connsiteY37" fmla="*/ 223612 h 355968"/>
              <a:gd name="connsiteX38" fmla="*/ 5961 w 576238"/>
              <a:gd name="connsiteY38" fmla="*/ 166098 h 355968"/>
              <a:gd name="connsiteX39" fmla="*/ 0 w 576238"/>
              <a:gd name="connsiteY39" fmla="*/ 155190 h 355968"/>
              <a:gd name="connsiteX40" fmla="*/ 6954 w 576238"/>
              <a:gd name="connsiteY40" fmla="*/ 144282 h 355968"/>
              <a:gd name="connsiteX41" fmla="*/ 270236 w 576238"/>
              <a:gd name="connsiteY41" fmla="*/ 4462 h 355968"/>
              <a:gd name="connsiteX42" fmla="*/ 288119 w 576238"/>
              <a:gd name="connsiteY42" fmla="*/ 0 h 355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76238" h="355968">
                <a:moveTo>
                  <a:pt x="543428" y="274208"/>
                </a:moveTo>
                <a:lnTo>
                  <a:pt x="543428" y="338693"/>
                </a:lnTo>
                <a:cubicBezTo>
                  <a:pt x="543428" y="340677"/>
                  <a:pt x="542435" y="341669"/>
                  <a:pt x="541442" y="343653"/>
                </a:cubicBezTo>
                <a:cubicBezTo>
                  <a:pt x="539456" y="344645"/>
                  <a:pt x="537470" y="345637"/>
                  <a:pt x="535484" y="345637"/>
                </a:cubicBezTo>
                <a:cubicBezTo>
                  <a:pt x="531511" y="345637"/>
                  <a:pt x="524560" y="347621"/>
                  <a:pt x="517608" y="354566"/>
                </a:cubicBezTo>
                <a:cubicBezTo>
                  <a:pt x="516615" y="355558"/>
                  <a:pt x="513636" y="356550"/>
                  <a:pt x="512643" y="355558"/>
                </a:cubicBezTo>
                <a:cubicBezTo>
                  <a:pt x="510656" y="354566"/>
                  <a:pt x="509663" y="352582"/>
                  <a:pt x="509663" y="350598"/>
                </a:cubicBezTo>
                <a:lnTo>
                  <a:pt x="514629" y="277184"/>
                </a:lnTo>
                <a:cubicBezTo>
                  <a:pt x="514629" y="277184"/>
                  <a:pt x="530518" y="288097"/>
                  <a:pt x="543428" y="274208"/>
                </a:cubicBezTo>
                <a:close/>
                <a:moveTo>
                  <a:pt x="288119" y="251378"/>
                </a:moveTo>
                <a:cubicBezTo>
                  <a:pt x="198703" y="251378"/>
                  <a:pt x="126176" y="261294"/>
                  <a:pt x="126176" y="274185"/>
                </a:cubicBezTo>
                <a:cubicBezTo>
                  <a:pt x="126176" y="286085"/>
                  <a:pt x="198703" y="296001"/>
                  <a:pt x="288119" y="296001"/>
                </a:cubicBezTo>
                <a:cubicBezTo>
                  <a:pt x="377535" y="296001"/>
                  <a:pt x="450062" y="286085"/>
                  <a:pt x="450062" y="274185"/>
                </a:cubicBezTo>
                <a:cubicBezTo>
                  <a:pt x="450062" y="261294"/>
                  <a:pt x="377535" y="251378"/>
                  <a:pt x="288119" y="251378"/>
                </a:cubicBezTo>
                <a:close/>
                <a:moveTo>
                  <a:pt x="288119" y="126432"/>
                </a:moveTo>
                <a:cubicBezTo>
                  <a:pt x="146046" y="126432"/>
                  <a:pt x="111273" y="178989"/>
                  <a:pt x="111273" y="178989"/>
                </a:cubicBezTo>
                <a:lnTo>
                  <a:pt x="111273" y="190888"/>
                </a:lnTo>
                <a:cubicBezTo>
                  <a:pt x="123195" y="177997"/>
                  <a:pt x="165917" y="144282"/>
                  <a:pt x="288119" y="144282"/>
                </a:cubicBezTo>
                <a:cubicBezTo>
                  <a:pt x="410321" y="144282"/>
                  <a:pt x="453042" y="177997"/>
                  <a:pt x="464964" y="190888"/>
                </a:cubicBezTo>
                <a:lnTo>
                  <a:pt x="464964" y="178989"/>
                </a:lnTo>
                <a:cubicBezTo>
                  <a:pt x="464964" y="178989"/>
                  <a:pt x="430191" y="126432"/>
                  <a:pt x="288119" y="126432"/>
                </a:cubicBezTo>
                <a:close/>
                <a:moveTo>
                  <a:pt x="288119" y="0"/>
                </a:moveTo>
                <a:cubicBezTo>
                  <a:pt x="294328" y="0"/>
                  <a:pt x="300538" y="1487"/>
                  <a:pt x="306002" y="4462"/>
                </a:cubicBezTo>
                <a:lnTo>
                  <a:pt x="569284" y="144282"/>
                </a:lnTo>
                <a:cubicBezTo>
                  <a:pt x="573258" y="146265"/>
                  <a:pt x="576238" y="150231"/>
                  <a:pt x="576238" y="155190"/>
                </a:cubicBezTo>
                <a:cubicBezTo>
                  <a:pt x="576238" y="160148"/>
                  <a:pt x="573258" y="164114"/>
                  <a:pt x="569284" y="166098"/>
                </a:cubicBezTo>
                <a:lnTo>
                  <a:pt x="533517" y="185930"/>
                </a:lnTo>
                <a:lnTo>
                  <a:pt x="533517" y="243445"/>
                </a:lnTo>
                <a:cubicBezTo>
                  <a:pt x="539478" y="245428"/>
                  <a:pt x="543452" y="251378"/>
                  <a:pt x="543452" y="258319"/>
                </a:cubicBezTo>
                <a:cubicBezTo>
                  <a:pt x="543452" y="266252"/>
                  <a:pt x="536498" y="274185"/>
                  <a:pt x="527556" y="274185"/>
                </a:cubicBezTo>
                <a:cubicBezTo>
                  <a:pt x="519608" y="274185"/>
                  <a:pt x="511660" y="266252"/>
                  <a:pt x="511660" y="258319"/>
                </a:cubicBezTo>
                <a:cubicBezTo>
                  <a:pt x="511660" y="251378"/>
                  <a:pt x="515634" y="245428"/>
                  <a:pt x="521595" y="243445"/>
                </a:cubicBezTo>
                <a:lnTo>
                  <a:pt x="521595" y="192872"/>
                </a:lnTo>
                <a:lnTo>
                  <a:pt x="470925" y="223612"/>
                </a:lnTo>
                <a:cubicBezTo>
                  <a:pt x="470925" y="223612"/>
                  <a:pt x="470925" y="272202"/>
                  <a:pt x="470925" y="274185"/>
                </a:cubicBezTo>
                <a:cubicBezTo>
                  <a:pt x="470925" y="294018"/>
                  <a:pt x="388464" y="309884"/>
                  <a:pt x="288119" y="309884"/>
                </a:cubicBezTo>
                <a:cubicBezTo>
                  <a:pt x="187774" y="309884"/>
                  <a:pt x="106306" y="294018"/>
                  <a:pt x="106306" y="274185"/>
                </a:cubicBezTo>
                <a:cubicBezTo>
                  <a:pt x="106306" y="272202"/>
                  <a:pt x="105312" y="223612"/>
                  <a:pt x="105312" y="223612"/>
                </a:cubicBezTo>
                <a:lnTo>
                  <a:pt x="5961" y="166098"/>
                </a:lnTo>
                <a:cubicBezTo>
                  <a:pt x="1987" y="164114"/>
                  <a:pt x="0" y="160148"/>
                  <a:pt x="0" y="155190"/>
                </a:cubicBezTo>
                <a:cubicBezTo>
                  <a:pt x="0" y="151223"/>
                  <a:pt x="2980" y="146265"/>
                  <a:pt x="6954" y="144282"/>
                </a:cubicBezTo>
                <a:lnTo>
                  <a:pt x="270236" y="4462"/>
                </a:lnTo>
                <a:cubicBezTo>
                  <a:pt x="275700" y="1487"/>
                  <a:pt x="281909" y="0"/>
                  <a:pt x="288119" y="0"/>
                </a:cubicBezTo>
                <a:close/>
              </a:path>
            </a:pathLst>
          </a:custGeom>
          <a:solidFill>
            <a:srgbClr val="8097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7" name="文本框 15"/>
          <p:cNvSpPr txBox="1"/>
          <p:nvPr/>
        </p:nvSpPr>
        <p:spPr>
          <a:xfrm>
            <a:off x="2166257" y="3853586"/>
            <a:ext cx="785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0" i="0" dirty="0">
                <a:solidFill>
                  <a:srgbClr val="44546A"/>
                </a:solidFill>
                <a:latin typeface="微软雅黑" panose="020B0503020204020204" charset="-122"/>
                <a:cs typeface="+mn-ea"/>
                <a:sym typeface="+mn-lt"/>
              </a:rPr>
              <a:t>第 1 周进展汇报 ｜ 2026-10-22 ｜ 吴恩达 ML Ch1–Ch7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3"/>
          <p:cNvGrpSpPr/>
          <p:nvPr/>
        </p:nvGrpSpPr>
        <p:grpSpPr>
          <a:xfrm>
            <a:off x="5041987" y="1036909"/>
            <a:ext cx="2108026" cy="1129079"/>
            <a:chOff x="4915074" y="906280"/>
            <a:chExt cx="2108026" cy="1129079"/>
          </a:xfrm>
        </p:grpSpPr>
        <p:sp>
          <p:nvSpPr>
            <p:cNvPr id="57" name="文本框 4"/>
            <p:cNvSpPr txBox="1"/>
            <p:nvPr/>
          </p:nvSpPr>
          <p:spPr>
            <a:xfrm>
              <a:off x="4915074" y="1588092"/>
              <a:ext cx="21080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i="1" cap="all" dirty="0">
                  <a:solidFill>
                    <a:schemeClr val="tx1">
                      <a:lumMod val="65000"/>
                      <a:lumOff val="35000"/>
                    </a:schemeClr>
                  </a:solidFill>
                  <a:uFillTx/>
                  <a:cs typeface="+mn-ea"/>
                  <a:sym typeface="+mn-lt"/>
                </a:rPr>
                <a:t>contents</a:t>
              </a:r>
              <a:endParaRPr lang="en-US" altLang="zh-CN" sz="1600" i="1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cs typeface="+mn-ea"/>
                <a:sym typeface="+mn-lt"/>
              </a:endParaRPr>
            </a:p>
          </p:txBody>
        </p:sp>
        <p:sp>
          <p:nvSpPr>
            <p:cNvPr id="58" name="文本框 5"/>
            <p:cNvSpPr txBox="1"/>
            <p:nvPr/>
          </p:nvSpPr>
          <p:spPr>
            <a:xfrm>
              <a:off x="5099224" y="906280"/>
              <a:ext cx="17397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000" b="1" cap="all" dirty="0">
                  <a:solidFill>
                    <a:srgbClr val="8097AF"/>
                  </a:solidFill>
                  <a:uFillTx/>
                  <a:cs typeface="+mn-ea"/>
                  <a:sym typeface="+mn-lt"/>
                </a:rPr>
                <a:t>目录</a:t>
              </a:r>
              <a:endParaRPr lang="zh-CN" altLang="en-US" sz="4000" b="1" cap="all" dirty="0">
                <a:solidFill>
                  <a:srgbClr val="8097AF"/>
                </a:solidFill>
                <a:uFillTx/>
                <a:cs typeface="+mn-ea"/>
                <a:sym typeface="+mn-lt"/>
              </a:endParaRPr>
            </a:p>
          </p:txBody>
        </p:sp>
        <p:cxnSp>
          <p:nvCxnSpPr>
            <p:cNvPr id="59" name="直接连接符 6"/>
            <p:cNvCxnSpPr/>
            <p:nvPr/>
          </p:nvCxnSpPr>
          <p:spPr>
            <a:xfrm>
              <a:off x="5555087" y="2035359"/>
              <a:ext cx="828000" cy="0"/>
            </a:xfrm>
            <a:prstGeom prst="line">
              <a:avLst/>
            </a:prstGeom>
            <a:ln w="28575">
              <a:solidFill>
                <a:srgbClr val="8097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组合 49"/>
          <p:cNvGrpSpPr/>
          <p:nvPr>
            <p:custDataLst>
              <p:tags r:id="rId1"/>
            </p:custDataLst>
          </p:nvPr>
        </p:nvGrpSpPr>
        <p:grpSpPr>
          <a:xfrm>
            <a:off x="1357805" y="3160637"/>
            <a:ext cx="9476390" cy="2304811"/>
            <a:chOff x="1357805" y="3160637"/>
            <a:chExt cx="9476390" cy="2304811"/>
          </a:xfrm>
        </p:grpSpPr>
        <p:cxnSp>
          <p:nvCxnSpPr>
            <p:cNvPr id="61" name="直接连接符 7"/>
            <p:cNvCxnSpPr>
              <a:endCxn id="62" idx="1"/>
            </p:cNvCxnSpPr>
            <p:nvPr>
              <p:custDataLst>
                <p:tags r:id="rId2"/>
              </p:custDataLst>
            </p:nvPr>
          </p:nvCxnSpPr>
          <p:spPr>
            <a:xfrm>
              <a:off x="2747386" y="3657707"/>
              <a:ext cx="6917899" cy="24394"/>
            </a:xfrm>
            <a:prstGeom prst="line">
              <a:avLst/>
            </a:prstGeom>
            <a:ln w="25400">
              <a:solidFill>
                <a:srgbClr val="8097A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组合 43"/>
            <p:cNvGrpSpPr/>
            <p:nvPr/>
          </p:nvGrpSpPr>
          <p:grpSpPr>
            <a:xfrm>
              <a:off x="1357805" y="3160637"/>
              <a:ext cx="1620958" cy="2304722"/>
              <a:chOff x="1357805" y="3160637"/>
              <a:chExt cx="1620958" cy="2304722"/>
            </a:xfrm>
          </p:grpSpPr>
          <p:grpSp>
            <p:nvGrpSpPr>
              <p:cNvPr id="64" name="组合 9"/>
              <p:cNvGrpSpPr/>
              <p:nvPr/>
            </p:nvGrpSpPr>
            <p:grpSpPr>
              <a:xfrm>
                <a:off x="1357805" y="4581587"/>
                <a:ext cx="1620958" cy="883772"/>
                <a:chOff x="2664603" y="2754730"/>
                <a:chExt cx="1620958" cy="883772"/>
              </a:xfrm>
            </p:grpSpPr>
            <p:sp>
              <p:nvSpPr>
                <p:cNvPr id="65" name="文本框 13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2664603" y="2754730"/>
                  <a:ext cx="162095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2800" b="1" i="0" dirty="0">
                      <a:solidFill>
                        <a:srgbClr val="44546A"/>
                      </a:solidFill>
                      <a:latin typeface="微软雅黑" panose="020B0503020204020204" charset="-122"/>
                      <a:cs typeface="+mn-ea"/>
                      <a:sym typeface="+mn-lt"/>
                    </a:rPr>
                    <a:t>本周概览</a:t>
                  </a:r>
                  <a:endParaRPr lang="zh-CN" alt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矩形 14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2664604" y="3299948"/>
                  <a:ext cx="162095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zh-CN" altLang="en-US" sz="1100" b="0" i="0" dirty="0">
                      <a:solidFill>
                        <a:srgbClr val="8A94A6"/>
                      </a:solidFill>
                      <a:latin typeface="微软雅黑" panose="020B0503020204020204" charset="-122"/>
                      <a:cs typeface="+mn-ea"/>
                      <a:sym typeface="+mn-lt"/>
                    </a:rPr>
                    <a:t>基本信息 · 核心结论 · 实际产出</a:t>
                  </a:r>
                  <a:endParaRPr lang="zh-CN" altLang="en-US" sz="1100" b="0" i="0" dirty="0">
                    <a:solidFill>
                      <a:srgbClr val="8A94A6"/>
                    </a:solidFill>
                    <a:latin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7" name="组合 39"/>
              <p:cNvGrpSpPr/>
              <p:nvPr/>
            </p:nvGrpSpPr>
            <p:grpSpPr>
              <a:xfrm>
                <a:off x="1646821" y="3160637"/>
                <a:ext cx="1042926" cy="1042926"/>
                <a:chOff x="1611086" y="3162290"/>
                <a:chExt cx="1042926" cy="1042926"/>
              </a:xfrm>
            </p:grpSpPr>
            <p:sp>
              <p:nvSpPr>
                <p:cNvPr id="68" name="椭圆 1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611086" y="3162290"/>
                  <a:ext cx="1042926" cy="1042926"/>
                </a:xfrm>
                <a:prstGeom prst="ellipse">
                  <a:avLst/>
                </a:prstGeom>
                <a:solidFill>
                  <a:srgbClr val="8097AF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文本框 12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1774118" y="3360588"/>
                  <a:ext cx="71686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01</a:t>
                  </a:r>
                  <a:endParaRPr lang="en-US" altLang="zh-CN" sz="3600" b="1" i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0" name="组合 44"/>
            <p:cNvGrpSpPr/>
            <p:nvPr/>
          </p:nvGrpSpPr>
          <p:grpSpPr>
            <a:xfrm>
              <a:off x="3976282" y="3160637"/>
              <a:ext cx="1620958" cy="2230509"/>
              <a:chOff x="3976281" y="3160637"/>
              <a:chExt cx="1620958" cy="2230509"/>
            </a:xfrm>
          </p:grpSpPr>
          <p:grpSp>
            <p:nvGrpSpPr>
              <p:cNvPr id="71" name="组合 17"/>
              <p:cNvGrpSpPr/>
              <p:nvPr/>
            </p:nvGrpSpPr>
            <p:grpSpPr>
              <a:xfrm>
                <a:off x="3976281" y="4553645"/>
                <a:ext cx="1620958" cy="837501"/>
                <a:chOff x="7770002" y="2265128"/>
                <a:chExt cx="1620958" cy="837501"/>
              </a:xfrm>
            </p:grpSpPr>
            <p:sp>
              <p:nvSpPr>
                <p:cNvPr id="72" name="文本框 21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7770002" y="2265128"/>
                  <a:ext cx="162095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2800" b="1" i="0" dirty="0">
                      <a:solidFill>
                        <a:srgbClr val="44546A"/>
                      </a:solidFill>
                      <a:latin typeface="微软雅黑" panose="020B0503020204020204" charset="-122"/>
                      <a:cs typeface="+mn-ea"/>
                      <a:sym typeface="+mn-lt"/>
                    </a:rPr>
                    <a:t>课程进度</a:t>
                  </a:r>
                  <a:endParaRPr lang="zh-CN" alt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矩形 22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7912145" y="2842279"/>
                  <a:ext cx="1336675" cy="2603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zh-CN" altLang="en-US" sz="1100" b="0" i="0" dirty="0">
                      <a:solidFill>
                        <a:srgbClr val="8A94A6"/>
                      </a:solidFill>
                      <a:latin typeface="微软雅黑" panose="020B0503020204020204" charset="-122"/>
                      <a:cs typeface="+mn-ea"/>
                      <a:sym typeface="+mn-lt"/>
                    </a:rPr>
                    <a:t>吴恩达 ML 前 7 章</a:t>
                  </a:r>
                  <a:endParaRPr lang="zh-CN" altLang="en-US" sz="1100" b="0" i="0" dirty="0">
                    <a:solidFill>
                      <a:srgbClr val="8A94A6"/>
                    </a:solidFill>
                    <a:latin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74" name="组合 40"/>
              <p:cNvGrpSpPr/>
              <p:nvPr/>
            </p:nvGrpSpPr>
            <p:grpSpPr>
              <a:xfrm>
                <a:off x="4265297" y="3160637"/>
                <a:ext cx="1042926" cy="1042926"/>
                <a:chOff x="4229563" y="3158298"/>
                <a:chExt cx="1042926" cy="1042926"/>
              </a:xfrm>
            </p:grpSpPr>
            <p:sp>
              <p:nvSpPr>
                <p:cNvPr id="75" name="椭圆 19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4229563" y="3158298"/>
                  <a:ext cx="1042926" cy="1042926"/>
                </a:xfrm>
                <a:prstGeom prst="ellipse">
                  <a:avLst/>
                </a:prstGeom>
                <a:solidFill>
                  <a:srgbClr val="8097AF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文本框 20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4392595" y="3356596"/>
                  <a:ext cx="71686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02</a:t>
                  </a:r>
                  <a:endParaRPr lang="en-US" altLang="zh-CN" sz="3600" b="1" i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7" name="组合 45"/>
            <p:cNvGrpSpPr/>
            <p:nvPr/>
          </p:nvGrpSpPr>
          <p:grpSpPr>
            <a:xfrm>
              <a:off x="6594760" y="3160637"/>
              <a:ext cx="1620959" cy="2304035"/>
              <a:chOff x="6594758" y="3160637"/>
              <a:chExt cx="1620959" cy="2304035"/>
            </a:xfrm>
          </p:grpSpPr>
          <p:grpSp>
            <p:nvGrpSpPr>
              <p:cNvPr id="78" name="组合 25"/>
              <p:cNvGrpSpPr/>
              <p:nvPr/>
            </p:nvGrpSpPr>
            <p:grpSpPr>
              <a:xfrm>
                <a:off x="6594758" y="4586396"/>
                <a:ext cx="1620959" cy="878276"/>
                <a:chOff x="2664602" y="4270987"/>
                <a:chExt cx="1620959" cy="878276"/>
              </a:xfrm>
            </p:grpSpPr>
            <p:sp>
              <p:nvSpPr>
                <p:cNvPr id="79" name="文本框 29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2664602" y="4270987"/>
                  <a:ext cx="162095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2800" b="1" i="0" dirty="0">
                      <a:solidFill>
                        <a:srgbClr val="44546A"/>
                      </a:solidFill>
                      <a:latin typeface="微软雅黑" panose="020B0503020204020204" charset="-122"/>
                      <a:cs typeface="+mn-ea"/>
                      <a:sym typeface="+mn-lt"/>
                    </a:rPr>
                    <a:t>代码任务与实验</a:t>
                  </a:r>
                  <a:endParaRPr lang="zh-CN" altLang="en-US" sz="2800" b="1" i="0" dirty="0">
                    <a:solidFill>
                      <a:srgbClr val="44546A"/>
                    </a:solidFill>
                    <a:latin typeface="微软雅黑" panose="020B050302020402020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矩形 30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2664604" y="4810709"/>
                  <a:ext cx="162095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zh-CN" altLang="en-US" sz="1100" b="0" i="0" dirty="0">
                      <a:solidFill>
                        <a:srgbClr val="8A94A6"/>
                      </a:solidFill>
                      <a:latin typeface="微软雅黑" panose="020B0503020204020204" charset="-122"/>
                      <a:cs typeface="+mn-ea"/>
                      <a:sym typeface="+mn-lt"/>
                    </a:rPr>
                    <a:t>三个 NumPy 代码任务 · 失败实验记录</a:t>
                  </a:r>
                  <a:endParaRPr lang="zh-CN" altLang="en-US" sz="1100" b="0" i="0" dirty="0">
                    <a:solidFill>
                      <a:srgbClr val="8A94A6"/>
                    </a:solidFill>
                    <a:latin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81" name="组合 41"/>
              <p:cNvGrpSpPr/>
              <p:nvPr/>
            </p:nvGrpSpPr>
            <p:grpSpPr>
              <a:xfrm>
                <a:off x="6883774" y="3160637"/>
                <a:ext cx="1042926" cy="1042926"/>
                <a:chOff x="6848040" y="3162977"/>
                <a:chExt cx="1042926" cy="1042926"/>
              </a:xfrm>
            </p:grpSpPr>
            <p:sp>
              <p:nvSpPr>
                <p:cNvPr id="82" name="椭圆 2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848040" y="3162977"/>
                  <a:ext cx="1042926" cy="1042926"/>
                </a:xfrm>
                <a:prstGeom prst="ellipse">
                  <a:avLst/>
                </a:prstGeom>
                <a:solidFill>
                  <a:srgbClr val="8097AF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文本框 28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7011072" y="3361275"/>
                  <a:ext cx="71686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03</a:t>
                  </a:r>
                  <a:endParaRPr lang="en-US" altLang="zh-CN" sz="3600" b="1" i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84" name="组合 46"/>
            <p:cNvGrpSpPr/>
            <p:nvPr/>
          </p:nvGrpSpPr>
          <p:grpSpPr>
            <a:xfrm>
              <a:off x="9213238" y="3160637"/>
              <a:ext cx="1620957" cy="2304811"/>
              <a:chOff x="9213238" y="3160637"/>
              <a:chExt cx="1620957" cy="2304811"/>
            </a:xfrm>
          </p:grpSpPr>
          <p:grpSp>
            <p:nvGrpSpPr>
              <p:cNvPr id="85" name="组合 32"/>
              <p:cNvGrpSpPr/>
              <p:nvPr/>
            </p:nvGrpSpPr>
            <p:grpSpPr>
              <a:xfrm>
                <a:off x="9213238" y="4580961"/>
                <a:ext cx="1620957" cy="884487"/>
                <a:chOff x="7770004" y="4178609"/>
                <a:chExt cx="1620957" cy="884487"/>
              </a:xfrm>
            </p:grpSpPr>
            <p:sp>
              <p:nvSpPr>
                <p:cNvPr id="86" name="矩形 36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7770004" y="4178609"/>
                  <a:ext cx="1620957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2800" b="1" i="0" dirty="0">
                      <a:solidFill>
                        <a:srgbClr val="44546A"/>
                      </a:solidFill>
                      <a:latin typeface="微软雅黑" panose="020B0503020204020204" charset="-122"/>
                      <a:cs typeface="+mn-ea"/>
                      <a:sym typeface="+mn-lt"/>
                    </a:rPr>
                    <a:t>复盘计划</a:t>
                  </a:r>
                  <a:endParaRPr lang="en-US" altLang="zh-CN" sz="2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矩形 37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7770004" y="4724542"/>
                  <a:ext cx="162095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zh-CN" altLang="en-US" sz="1100" b="0" i="0" dirty="0">
                      <a:solidFill>
                        <a:srgbClr val="8A94A6"/>
                      </a:solidFill>
                      <a:latin typeface="微软雅黑" panose="020B0503020204020204" charset="-122"/>
                      <a:cs typeface="+mn-ea"/>
                      <a:sym typeface="+mn-lt"/>
                    </a:rPr>
                    <a:t>问题复盘 · 下周安排</a:t>
                  </a:r>
                  <a:endParaRPr lang="zh-CN" altLang="en-US" sz="1100" b="0" i="0" dirty="0">
                    <a:solidFill>
                      <a:srgbClr val="8A94A6"/>
                    </a:solidFill>
                    <a:latin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88" name="组合 42"/>
              <p:cNvGrpSpPr/>
              <p:nvPr/>
            </p:nvGrpSpPr>
            <p:grpSpPr>
              <a:xfrm>
                <a:off x="9502253" y="3160637"/>
                <a:ext cx="1042926" cy="1042926"/>
                <a:chOff x="9466518" y="3162200"/>
                <a:chExt cx="1042926" cy="1042926"/>
              </a:xfrm>
            </p:grpSpPr>
            <p:sp>
              <p:nvSpPr>
                <p:cNvPr id="89" name="椭圆 34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9466518" y="3162200"/>
                  <a:ext cx="1042926" cy="1042926"/>
                </a:xfrm>
                <a:prstGeom prst="ellipse">
                  <a:avLst/>
                </a:prstGeom>
                <a:solidFill>
                  <a:srgbClr val="8097AF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35"/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9629550" y="3360498"/>
                  <a:ext cx="71686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3600" b="1" i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04</a:t>
                  </a:r>
                  <a:endParaRPr lang="en-US" altLang="zh-CN" sz="3600" b="1" i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组合 1"/>
          <p:cNvGrpSpPr/>
          <p:nvPr/>
        </p:nvGrpSpPr>
        <p:grpSpPr>
          <a:xfrm>
            <a:off x="4618672" y="1951908"/>
            <a:ext cx="2954656" cy="2293405"/>
            <a:chOff x="4438604" y="2276639"/>
            <a:chExt cx="2954656" cy="2293405"/>
          </a:xfrm>
        </p:grpSpPr>
        <p:sp>
          <p:nvSpPr>
            <p:cNvPr id="92" name="文本框 13"/>
            <p:cNvSpPr txBox="1"/>
            <p:nvPr/>
          </p:nvSpPr>
          <p:spPr>
            <a:xfrm>
              <a:off x="4438604" y="3646714"/>
              <a:ext cx="29546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5400" b="1" i="0" dirty="0">
                  <a:solidFill>
                    <a:srgbClr val="44546A"/>
                  </a:solidFill>
                  <a:latin typeface="微软雅黑" panose="020B0503020204020204" charset="-122"/>
                  <a:cs typeface="+mn-ea"/>
                  <a:sym typeface="+mn-lt"/>
                </a:rPr>
                <a:t>本周概览</a:t>
              </a:r>
              <a:endParaRPr lang="zh-CN" altLang="en-US" sz="5400" b="1" i="0" dirty="0">
                <a:solidFill>
                  <a:srgbClr val="44546A"/>
                </a:solidFill>
                <a:latin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93" name="组合 39"/>
            <p:cNvGrpSpPr/>
            <p:nvPr/>
          </p:nvGrpSpPr>
          <p:grpSpPr>
            <a:xfrm>
              <a:off x="5394469" y="2276639"/>
              <a:ext cx="1042926" cy="1042926"/>
              <a:chOff x="1611086" y="3162290"/>
              <a:chExt cx="1042926" cy="1042926"/>
            </a:xfrm>
          </p:grpSpPr>
          <p:sp>
            <p:nvSpPr>
              <p:cNvPr id="94" name="椭圆 11"/>
              <p:cNvSpPr/>
              <p:nvPr/>
            </p:nvSpPr>
            <p:spPr>
              <a:xfrm>
                <a:off x="1611086" y="3162290"/>
                <a:ext cx="1042926" cy="1042926"/>
              </a:xfrm>
              <a:prstGeom prst="ellipse">
                <a:avLst/>
              </a:prstGeom>
              <a:solidFill>
                <a:srgbClr val="8097A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5" name="文本框 12"/>
              <p:cNvSpPr txBox="1"/>
              <p:nvPr/>
            </p:nvSpPr>
            <p:spPr>
              <a:xfrm>
                <a:off x="1774118" y="3360588"/>
                <a:ext cx="71686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b="1" i="1" dirty="0">
                    <a:solidFill>
                      <a:schemeClr val="bg1"/>
                    </a:solidFill>
                    <a:cs typeface="+mn-ea"/>
                    <a:sym typeface="+mn-lt"/>
                  </a:rPr>
                  <a:t>01</a:t>
                </a:r>
                <a:endParaRPr lang="en-US" altLang="zh-CN" sz="3600" b="1" i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 txBox="1"/>
          <p:nvPr/>
        </p:nvSpPr>
        <p:spPr>
          <a:xfrm>
            <a:off x="502920" y="274320"/>
            <a:ext cx="96012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097AF"/>
                </a:solidFill>
                <a:latin typeface="微软雅黑" panose="020B0503020204020204" charset="-122"/>
                <a:ea typeface="微软雅黑" panose="020B0503020204020204" charset="-122"/>
              </a:rPr>
              <a:t>01  </a:t>
            </a:r>
            <a:r>
              <a:rPr sz="2200" b="1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本周概览</a:t>
            </a:r>
            <a:r>
              <a:rPr sz="11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sz="11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530352" y="896112"/>
            <a:ext cx="1371600" cy="41148"/>
          </a:xfrm>
          <a:prstGeom prst="rect">
            <a:avLst/>
          </a:prstGeom>
          <a:solidFill>
            <a:srgbClr val="809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3"/>
          <p:cNvSpPr txBox="1"/>
          <p:nvPr/>
        </p:nvSpPr>
        <p:spPr>
          <a:xfrm>
            <a:off x="9966960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LION Stage 1 · 组会①</a:t>
            </a:r>
            <a:endParaRPr sz="9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1" name="Table 4"/>
          <p:cNvGraphicFramePr>
            <a:graphicFrameLocks noGrp="1"/>
          </p:cNvGraphicFramePr>
          <p:nvPr/>
        </p:nvGraphicFramePr>
        <p:xfrm>
          <a:off x="502920" y="1188720"/>
          <a:ext cx="11155680" cy="768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4389120"/>
                <a:gridCol w="137160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姓名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张雨</a:t>
                      </a:r>
                      <a:endParaRPr lang="zh-CN"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当前阶段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 1 课程学习 · 第 1 周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汇报日期</a:t>
                      </a:r>
                      <a:endParaRPr sz="16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2026-10-22（组会①）</a:t>
                      </a:r>
                      <a:endParaRPr sz="16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本周投入</a:t>
                      </a:r>
                      <a:endParaRPr sz="16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 </a:t>
                      </a:r>
                      <a:r>
                        <a:rPr lang="en-US" sz="16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r>
                        <a:rPr sz="16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小时</a:t>
                      </a:r>
                      <a:endParaRPr sz="16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TextBox 5"/>
          <p:cNvSpPr txBox="1"/>
          <p:nvPr/>
        </p:nvSpPr>
        <p:spPr>
          <a:xfrm>
            <a:off x="502920" y="2240280"/>
            <a:ext cx="11155680" cy="1170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本周核心结论</a:t>
            </a:r>
            <a:endParaRPr sz="1600" b="1" i="0">
              <a:solidFill>
                <a:srgbClr val="5A789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打通「单变量线性回归 → 多元回归 → 逻辑回归」的梯度下降主线：</a:t>
            </a: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3 个代码任务全部完成并通过收敛性验证</a:t>
            </a: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；两类问题根因——优化族的“有效步长 α·λmax”与统计族的“泛化 gap 决定正则化是否发力”；</a:t>
            </a:r>
            <a:r>
              <a:rPr sz="1600" b="1" i="0">
                <a:solidFill>
                  <a:srgbClr val="A84B44"/>
                </a:solidFill>
                <a:latin typeface="微软雅黑" panose="020B0503020204020204" charset="-122"/>
                <a:ea typeface="微软雅黑" panose="020B0503020204020204" charset="-122"/>
              </a:rPr>
              <a:t>表面指标（loss 下降、acc 99%）会骗人，必须定量诊断。</a:t>
            </a:r>
            <a:endParaRPr sz="1600" b="1" i="0">
              <a:solidFill>
                <a:srgbClr val="A84B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6"/>
          <p:cNvSpPr txBox="1"/>
          <p:nvPr/>
        </p:nvSpPr>
        <p:spPr>
          <a:xfrm>
            <a:off x="502920" y="3703320"/>
            <a:ext cx="11155680" cy="2609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本周实际产出（均可核验）</a:t>
            </a:r>
            <a:endParaRPr sz="1600" b="1" i="0">
              <a:solidFill>
                <a:srgbClr val="5A789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▪ 课程笔记 5 篇：notes/cs229/lecture01–04（概念框架 / 单变量回归 / 线代+多元开篇 / 学习率·多项式·正规方程 / 分类与正则化）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▪ 代码任务 3 个：code-tasks/01 单变量线性回归、02 多元回归三法对比、03 逻辑回归+L2 正则化（均含 results.md / readme.md）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▪ 失败实验记录 1 份：code-tasks/01-linear-regression/train_bug.log（α=0.5 梯度爆炸原始日志 + 根因分析）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▪ 周报①：reports/周报01_第1周.md / .docx（按手册 1.3 六项模板撰写）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▪ 每日执行计划：output/LION每日执行计划.docx（14 周 / 90 学习日，逐日排期）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组合 1"/>
          <p:cNvGrpSpPr/>
          <p:nvPr/>
        </p:nvGrpSpPr>
        <p:grpSpPr>
          <a:xfrm>
            <a:off x="4618672" y="1951908"/>
            <a:ext cx="2954656" cy="2293405"/>
            <a:chOff x="4438604" y="2276639"/>
            <a:chExt cx="2954656" cy="2293405"/>
          </a:xfrm>
        </p:grpSpPr>
        <p:sp>
          <p:nvSpPr>
            <p:cNvPr id="106" name="文本框 13"/>
            <p:cNvSpPr txBox="1"/>
            <p:nvPr/>
          </p:nvSpPr>
          <p:spPr>
            <a:xfrm>
              <a:off x="4438604" y="3646714"/>
              <a:ext cx="29546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5400" b="1" i="0" dirty="0">
                  <a:solidFill>
                    <a:srgbClr val="44546A"/>
                  </a:solidFill>
                  <a:latin typeface="微软雅黑" panose="020B0503020204020204" charset="-122"/>
                  <a:cs typeface="+mn-ea"/>
                  <a:sym typeface="+mn-lt"/>
                </a:rPr>
                <a:t>课程进度</a:t>
              </a:r>
              <a:endParaRPr lang="zh-CN" altLang="en-US" sz="5400" b="1" i="0" dirty="0">
                <a:solidFill>
                  <a:srgbClr val="44546A"/>
                </a:solidFill>
                <a:latin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07" name="组合 39"/>
            <p:cNvGrpSpPr/>
            <p:nvPr/>
          </p:nvGrpSpPr>
          <p:grpSpPr>
            <a:xfrm>
              <a:off x="5394469" y="2276639"/>
              <a:ext cx="1042926" cy="1042926"/>
              <a:chOff x="1611086" y="3162290"/>
              <a:chExt cx="1042926" cy="1042926"/>
            </a:xfrm>
          </p:grpSpPr>
          <p:sp>
            <p:nvSpPr>
              <p:cNvPr id="108" name="椭圆 11"/>
              <p:cNvSpPr/>
              <p:nvPr/>
            </p:nvSpPr>
            <p:spPr>
              <a:xfrm>
                <a:off x="1611086" y="3162290"/>
                <a:ext cx="1042926" cy="1042926"/>
              </a:xfrm>
              <a:prstGeom prst="ellipse">
                <a:avLst/>
              </a:prstGeom>
              <a:solidFill>
                <a:srgbClr val="8097A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9" name="文本框 12"/>
              <p:cNvSpPr txBox="1"/>
              <p:nvPr/>
            </p:nvSpPr>
            <p:spPr>
              <a:xfrm>
                <a:off x="1774118" y="3360588"/>
                <a:ext cx="71686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b="1" i="1" dirty="0">
                    <a:solidFill>
                      <a:schemeClr val="bg1"/>
                    </a:solidFill>
                    <a:cs typeface="+mn-ea"/>
                    <a:sym typeface="+mn-lt"/>
                  </a:rPr>
                  <a:t>02</a:t>
                </a:r>
                <a:endParaRPr lang="en-US" altLang="zh-CN" sz="3600" b="1" i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 txBox="1"/>
          <p:nvPr/>
        </p:nvSpPr>
        <p:spPr>
          <a:xfrm>
            <a:off x="502920" y="274320"/>
            <a:ext cx="96012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097AF"/>
                </a:solidFill>
                <a:latin typeface="微软雅黑" panose="020B0503020204020204" charset="-122"/>
                <a:ea typeface="微软雅黑" panose="020B0503020204020204" charset="-122"/>
              </a:rPr>
              <a:t>02  </a:t>
            </a:r>
            <a:r>
              <a:rPr sz="2200" b="1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课程进度</a:t>
            </a:r>
            <a:r>
              <a:rPr sz="11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sz="11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530352" y="896112"/>
            <a:ext cx="1371600" cy="41148"/>
          </a:xfrm>
          <a:prstGeom prst="rect">
            <a:avLst/>
          </a:prstGeom>
          <a:solidFill>
            <a:srgbClr val="809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3"/>
          <p:cNvSpPr txBox="1"/>
          <p:nvPr/>
        </p:nvSpPr>
        <p:spPr>
          <a:xfrm>
            <a:off x="9966960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LION Stage 1 · 组会①</a:t>
            </a:r>
            <a:endParaRPr sz="9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5" name="Table 4"/>
          <p:cNvGraphicFramePr>
            <a:graphicFrameLocks noGrp="1"/>
          </p:cNvGraphicFramePr>
          <p:nvPr/>
        </p:nvGraphicFramePr>
        <p:xfrm>
          <a:off x="502920" y="1312672"/>
          <a:ext cx="11155680" cy="28181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960"/>
                <a:gridCol w="6485255"/>
                <a:gridCol w="1407160"/>
                <a:gridCol w="2440305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2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章节</a:t>
                      </a:r>
                      <a:endParaRPr sz="2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</a:t>
                      </a:r>
                      <a:endParaRPr sz="2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时长</a:t>
                      </a:r>
                      <a:endParaRPr sz="2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sz="2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Ch1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引言：机器学习是什么 / 监督与无监督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40:55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i="0">
                          <a:solidFill>
                            <a:srgbClr val="4E7A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已完成</a:t>
                      </a:r>
                      <a:endParaRPr sz="2400" b="1" i="0">
                        <a:solidFill>
                          <a:srgbClr val="4E7A5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Ch2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单变量线性回归：模型 / 代价函数 / 梯度下降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70:07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i="0">
                          <a:solidFill>
                            <a:srgbClr val="4E7A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已完成</a:t>
                      </a:r>
                      <a:endParaRPr sz="2400" b="1" i="0">
                        <a:solidFill>
                          <a:srgbClr val="4E7A5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Ch3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线性代数回顾（矩阵乘法 / 逆 / 转置）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60:48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i="0">
                          <a:solidFill>
                            <a:srgbClr val="4E7A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已完成</a:t>
                      </a:r>
                      <a:endParaRPr sz="2400" b="1" i="0">
                        <a:solidFill>
                          <a:srgbClr val="4E7A5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Ch4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多变量线性回归：向量化 / 缩放 / 正规方程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64:53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i="0">
                          <a:solidFill>
                            <a:srgbClr val="4E7A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已完成</a:t>
                      </a:r>
                      <a:endParaRPr sz="2400" b="1" i="0">
                        <a:solidFill>
                          <a:srgbClr val="4E7A5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Ch6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逻辑回归：分类 / 决策边界 / 代价函数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71:28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i="0">
                          <a:solidFill>
                            <a:srgbClr val="4E7A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已完成</a:t>
                      </a:r>
                      <a:endParaRPr sz="2400" b="1" i="0">
                        <a:solidFill>
                          <a:srgbClr val="4E7A5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Ch7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正则化：过拟合 / Ridge / L2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39:11</a:t>
                      </a:r>
                      <a:endParaRPr sz="2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400" b="1" i="0">
                          <a:solidFill>
                            <a:srgbClr val="4E7A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已完成</a:t>
                      </a:r>
                      <a:endParaRPr sz="2400" b="1" i="0">
                        <a:solidFill>
                          <a:srgbClr val="4E7A5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6" name="TextBox 5"/>
          <p:cNvSpPr txBox="1"/>
          <p:nvPr/>
        </p:nvSpPr>
        <p:spPr>
          <a:xfrm>
            <a:off x="530225" y="5237480"/>
            <a:ext cx="11155680" cy="230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累计：</a:t>
            </a:r>
            <a:r>
              <a:rPr sz="125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36 段 / 5:47:22，占全课的 </a:t>
            </a:r>
            <a:r>
              <a:rPr sz="125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32.0%</a:t>
            </a:r>
            <a:endParaRPr sz="12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"/>
          <p:cNvGrpSpPr/>
          <p:nvPr/>
        </p:nvGrpSpPr>
        <p:grpSpPr>
          <a:xfrm>
            <a:off x="4618672" y="1951908"/>
            <a:ext cx="2954656" cy="2293405"/>
            <a:chOff x="4438604" y="2276639"/>
            <a:chExt cx="2954656" cy="2293405"/>
          </a:xfrm>
        </p:grpSpPr>
        <p:sp>
          <p:nvSpPr>
            <p:cNvPr id="119" name="文本框 13"/>
            <p:cNvSpPr txBox="1"/>
            <p:nvPr/>
          </p:nvSpPr>
          <p:spPr>
            <a:xfrm>
              <a:off x="4438604" y="3646714"/>
              <a:ext cx="29546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5400" b="1" i="0" dirty="0">
                  <a:solidFill>
                    <a:srgbClr val="44546A"/>
                  </a:solidFill>
                  <a:latin typeface="微软雅黑" panose="020B0503020204020204" charset="-122"/>
                  <a:cs typeface="+mn-ea"/>
                  <a:sym typeface="+mn-lt"/>
                </a:rPr>
                <a:t>代码任务与实验</a:t>
              </a:r>
              <a:endParaRPr lang="zh-CN" altLang="en-US" sz="5400" b="1" i="0" dirty="0">
                <a:solidFill>
                  <a:srgbClr val="44546A"/>
                </a:solidFill>
                <a:latin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20" name="组合 39"/>
            <p:cNvGrpSpPr/>
            <p:nvPr/>
          </p:nvGrpSpPr>
          <p:grpSpPr>
            <a:xfrm>
              <a:off x="5394469" y="2276639"/>
              <a:ext cx="1042926" cy="1042926"/>
              <a:chOff x="1611086" y="3162290"/>
              <a:chExt cx="1042926" cy="1042926"/>
            </a:xfrm>
          </p:grpSpPr>
          <p:sp>
            <p:nvSpPr>
              <p:cNvPr id="121" name="椭圆 11"/>
              <p:cNvSpPr/>
              <p:nvPr/>
            </p:nvSpPr>
            <p:spPr>
              <a:xfrm>
                <a:off x="1611086" y="3162290"/>
                <a:ext cx="1042926" cy="1042926"/>
              </a:xfrm>
              <a:prstGeom prst="ellipse">
                <a:avLst/>
              </a:prstGeom>
              <a:solidFill>
                <a:srgbClr val="8097A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2" name="文本框 12"/>
              <p:cNvSpPr txBox="1"/>
              <p:nvPr/>
            </p:nvSpPr>
            <p:spPr>
              <a:xfrm>
                <a:off x="1774118" y="3360588"/>
                <a:ext cx="71686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b="1" i="1" dirty="0">
                    <a:solidFill>
                      <a:schemeClr val="bg1"/>
                    </a:solidFill>
                    <a:cs typeface="+mn-ea"/>
                    <a:sym typeface="+mn-lt"/>
                  </a:rPr>
                  <a:t>03</a:t>
                </a:r>
                <a:endParaRPr lang="en-US" altLang="zh-CN" sz="3600" b="1" i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 txBox="1"/>
          <p:nvPr/>
        </p:nvSpPr>
        <p:spPr>
          <a:xfrm>
            <a:off x="502920" y="274320"/>
            <a:ext cx="96012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097A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2200" b="1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代码任务与实验 · 总览</a:t>
            </a:r>
            <a:r>
              <a:rPr sz="11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sz="11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530352" y="896112"/>
            <a:ext cx="1371600" cy="41148"/>
          </a:xfrm>
          <a:prstGeom prst="rect">
            <a:avLst/>
          </a:prstGeom>
          <a:solidFill>
            <a:srgbClr val="809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3"/>
          <p:cNvSpPr txBox="1"/>
          <p:nvPr/>
        </p:nvSpPr>
        <p:spPr>
          <a:xfrm>
            <a:off x="9966960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LION Stage 1 · 组会①</a:t>
            </a:r>
            <a:endParaRPr sz="9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8" name="Table 4"/>
          <p:cNvGraphicFramePr>
            <a:graphicFrameLocks noGrp="1"/>
          </p:cNvGraphicFramePr>
          <p:nvPr/>
        </p:nvGraphicFramePr>
        <p:xfrm>
          <a:off x="502920" y="1234440"/>
          <a:ext cx="11155679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3977639"/>
                <a:gridCol w="2377440"/>
                <a:gridCol w="265176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目录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任务（手册 Stage 1：理论 + 经典算法代码实现）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关键设置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验收结果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01-linear-regression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单变量线性回归 + 损失曲线 + 拟合直线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α=0.1，θ₀=0，300 轮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4E7A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MSE 1.1560，达最优解 99.97%</a:t>
                      </a:r>
                      <a:endParaRPr sz="1400" b="1" i="0">
                        <a:solidFill>
                          <a:srgbClr val="4E7A5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02-multivariate-regression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多元回归 + 特征缩放 + 正规方程，三法对比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统一原始尺度评估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4E7A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达标轮数 37,180 / 22 / 1</a:t>
                      </a:r>
                      <a:endParaRPr sz="1400" b="1" i="0">
                        <a:solidFill>
                          <a:srgbClr val="4E7A5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03-logistic-regression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逻辑回归 + L2 正则化 + 决策边界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α=1.0，5000 轮，4000 样本测试集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4E7A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测试 98.32% = 贝叶斯上限 98.31%</a:t>
                      </a:r>
                      <a:endParaRPr sz="1400" b="1" i="0">
                        <a:solidFill>
                          <a:srgbClr val="4E7A5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9" name="TextBox 5"/>
          <p:cNvSpPr txBox="1"/>
          <p:nvPr/>
        </p:nvSpPr>
        <p:spPr>
          <a:xfrm>
            <a:off x="502920" y="3931920"/>
            <a:ext cx="11155680" cy="2168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共性问题与修复（本周最大的收获）</a:t>
            </a:r>
            <a:endParaRPr b="1" i="0">
              <a:solidFill>
                <a:srgbClr val="5A789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200"/>
              </a:spcAft>
            </a:pPr>
            <a:r>
              <a:rPr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▪ 三个任务最初都“跑通了但没验证透”：01 的 loss 公式少一层括号（画的不是 MSE）、02 的两条曲线不在同一尺度、03 欠收敛 34% 而准确率毫无异常；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200"/>
              </a:spcAft>
            </a:pPr>
            <a:r>
              <a:rPr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▪ 修复方式统一为“定量诊断三件套”：与正规方程/参考解对照、统一评估口径、独立测试集 + 贝叶斯上限对照；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200"/>
              </a:spcAft>
            </a:pPr>
            <a:r>
              <a:rPr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▪ 每个脚本现在都带断言（收敛精度 + 损失单调性），结果写入 results.md，日志与代码严格一致。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 txBox="1"/>
          <p:nvPr/>
        </p:nvSpPr>
        <p:spPr>
          <a:xfrm>
            <a:off x="502920" y="274320"/>
            <a:ext cx="96012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097A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2200" b="1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任务① 单变量线性回归</a:t>
            </a:r>
            <a:r>
              <a:rPr sz="11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sz="11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Rectangle 2"/>
          <p:cNvSpPr/>
          <p:nvPr/>
        </p:nvSpPr>
        <p:spPr>
          <a:xfrm>
            <a:off x="530352" y="896112"/>
            <a:ext cx="1371600" cy="41148"/>
          </a:xfrm>
          <a:prstGeom prst="rect">
            <a:avLst/>
          </a:prstGeom>
          <a:solidFill>
            <a:srgbClr val="809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3"/>
          <p:cNvSpPr txBox="1"/>
          <p:nvPr/>
        </p:nvSpPr>
        <p:spPr>
          <a:xfrm>
            <a:off x="9966960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LION Stage 1 · 组会①</a:t>
            </a:r>
            <a:endParaRPr sz="9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TextBox 4"/>
          <p:cNvSpPr txBox="1"/>
          <p:nvPr/>
        </p:nvSpPr>
        <p:spPr>
          <a:xfrm>
            <a:off x="502920" y="1541145"/>
            <a:ext cx="4937760" cy="41408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数据：</a:t>
            </a: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合成 y = 4 + 3x + N(0,1)，m=100（seed=100）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方法：</a:t>
            </a: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批量梯度下降（同步更新），纯 NumPy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设置：α=0.1，θ₀=0，100 轮</a:t>
            </a:r>
            <a:endParaRPr sz="1600" b="1" i="0">
              <a:solidFill>
                <a:srgbClr val="5A789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结果：</a:t>
            </a: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θ = [3.955, 2.889]，与正规方程精确解 [3.985, 2.862] 差 0.030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损失：</a:t>
            </a: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MSE 17.5 → 1.1560（最优 1.1557，达 99.97%），全程单调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自检：收敛断言（atol=0.1）+ 损失单调性断言（容差 1e-12）；300 轮对照差 4×10⁻⁵</a:t>
            </a:r>
            <a:endParaRPr sz="1600" b="1" i="0">
              <a:solidFill>
                <a:srgbClr val="5A789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6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产出：linear_regression.py + loss_curve.png + train.log</a:t>
            </a:r>
            <a:endParaRPr sz="16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5" name="Picture 5" descr="loss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354580"/>
            <a:ext cx="6035040" cy="2514600"/>
          </a:xfrm>
          <a:prstGeom prst="rect">
            <a:avLst/>
          </a:prstGeom>
          <a:ln w="9525">
            <a:solidFill>
              <a:srgbClr val="D8DFE7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 txBox="1"/>
          <p:nvPr/>
        </p:nvSpPr>
        <p:spPr>
          <a:xfrm>
            <a:off x="502920" y="274320"/>
            <a:ext cx="96012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097A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2200" b="1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任务② 多元回归：三法对比</a:t>
            </a:r>
            <a:r>
              <a:rPr sz="11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sz="11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2"/>
          <p:cNvSpPr/>
          <p:nvPr/>
        </p:nvSpPr>
        <p:spPr>
          <a:xfrm>
            <a:off x="530352" y="896112"/>
            <a:ext cx="1371600" cy="41148"/>
          </a:xfrm>
          <a:prstGeom prst="rect">
            <a:avLst/>
          </a:prstGeom>
          <a:solidFill>
            <a:srgbClr val="809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3"/>
          <p:cNvSpPr txBox="1"/>
          <p:nvPr/>
        </p:nvSpPr>
        <p:spPr>
          <a:xfrm>
            <a:off x="9966960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LION Stage 1 · 组会①</a:t>
            </a:r>
            <a:endParaRPr sz="9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4"/>
          <p:cNvSpPr txBox="1"/>
          <p:nvPr/>
        </p:nvSpPr>
        <p:spPr>
          <a:xfrm>
            <a:off x="502920" y="1115695"/>
            <a:ext cx="11155680" cy="60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数据：</a:t>
            </a:r>
            <a:r>
              <a:rPr sz="12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x₁∈[0,100]（面积）、x₂∈[0,5]（卧室数），真值 [5, 2, 3]，m=100 —— 两个特征量级差 20 倍。</a:t>
            </a:r>
            <a:r>
              <a:rPr sz="12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三种方法统一 θ₀=0、统一在原始尺度评估（判据 MSE ≤ J*×1.01）。</a:t>
            </a:r>
            <a:endParaRPr sz="12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3" name="Table 5"/>
          <p:cNvGraphicFramePr>
            <a:graphicFrameLocks noGrp="1"/>
          </p:cNvGraphicFramePr>
          <p:nvPr/>
        </p:nvGraphicFramePr>
        <p:xfrm>
          <a:off x="490855" y="1611630"/>
          <a:ext cx="11155680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1188720"/>
                <a:gridCol w="1737360"/>
                <a:gridCol w="1737360"/>
                <a:gridCol w="42976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方法</a:t>
                      </a:r>
                      <a:endParaRPr sz="12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</a:t>
                      </a:r>
                      <a:endParaRPr sz="12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达标轮数</a:t>
                      </a:r>
                      <a:endParaRPr sz="12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最终 MSE</a:t>
                      </a:r>
                      <a:endParaRPr sz="12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 [b, w1, w2]</a:t>
                      </a:r>
                      <a:endParaRPr sz="12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无缩放 GD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1e-4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37,180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23.8423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[3.401, 1.992, 3.937]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有缩放 GD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23.6418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[4.553, 1.983, 3.719]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正规方程 (pinv)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23.6418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[4.553, 1.983, 3.719]</a:t>
                      </a:r>
                      <a:endParaRPr sz="115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6"/>
          <p:cNvSpPr txBox="1"/>
          <p:nvPr/>
        </p:nvSpPr>
        <p:spPr>
          <a:xfrm>
            <a:off x="502920" y="3158363"/>
            <a:ext cx="111556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结论：</a:t>
            </a:r>
            <a:r>
              <a:rPr sz="12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缩放使 κ(XᵀX) 从 21,202.6 降到 1.07，α 稳定上限从 1.6×10⁻⁴ 放宽到 0.4835 —— 收敛速度相差 </a:t>
            </a:r>
            <a:r>
              <a:rPr sz="1200" b="1" i="0">
                <a:solidFill>
                  <a:srgbClr val="A84B44"/>
                </a:solidFill>
                <a:latin typeface="微软雅黑" panose="020B0503020204020204" charset="-122"/>
                <a:ea typeface="微软雅黑" panose="020B0503020204020204" charset="-122"/>
              </a:rPr>
              <a:t>1690 倍</a:t>
            </a:r>
            <a:r>
              <a:rPr sz="12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，与 α 上限差 3000 倍是同一个原因（有效步长 = α·λmax）。</a:t>
            </a:r>
            <a:endParaRPr sz="12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验证：正规方程在原始 X 与缩放 X 上求解再还原，参数差 4×10⁻¹² —— 正规方程不需要缩放；正规方程与真值的差属噪声抽样（w₂ 差 2.1 个标准误）。</a:t>
            </a:r>
            <a:endParaRPr sz="115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7" descr="convergence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325" y="4030345"/>
            <a:ext cx="8583295" cy="2443480"/>
          </a:xfrm>
          <a:prstGeom prst="rect">
            <a:avLst/>
          </a:prstGeom>
          <a:ln w="9525">
            <a:solidFill>
              <a:srgbClr val="D8DFE7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"/>
          <p:cNvSpPr txBox="1"/>
          <p:nvPr/>
        </p:nvSpPr>
        <p:spPr>
          <a:xfrm>
            <a:off x="502920" y="274320"/>
            <a:ext cx="96012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097A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2200" b="1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任务③ 逻辑回归 + L2 正则化</a:t>
            </a:r>
            <a:r>
              <a:rPr sz="11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sz="11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2"/>
          <p:cNvSpPr/>
          <p:nvPr/>
        </p:nvSpPr>
        <p:spPr>
          <a:xfrm>
            <a:off x="530352" y="896112"/>
            <a:ext cx="1371600" cy="41148"/>
          </a:xfrm>
          <a:prstGeom prst="rect">
            <a:avLst/>
          </a:prstGeom>
          <a:solidFill>
            <a:srgbClr val="809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3"/>
          <p:cNvSpPr txBox="1"/>
          <p:nvPr/>
        </p:nvSpPr>
        <p:spPr>
          <a:xfrm>
            <a:off x="9966960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LION Stage 1 · 组会①</a:t>
            </a:r>
            <a:endParaRPr sz="9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4"/>
          <p:cNvSpPr txBox="1"/>
          <p:nvPr/>
        </p:nvSpPr>
        <p:spPr>
          <a:xfrm>
            <a:off x="502920" y="1291590"/>
            <a:ext cx="5760720" cy="4711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数据：</a:t>
            </a:r>
            <a:r>
              <a:rPr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两高斯簇（中心 ±[1.5,1.5]），训练 200 + 独立测试 4000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模型：</a:t>
            </a:r>
            <a:r>
              <a:rPr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sigmoid + 交叉熵 + L2（θ₀ 不参与正则化）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收敛：</a:t>
            </a:r>
            <a:r>
              <a:rPr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α=1.0、5000 轮：θ=[-0.012, 4.117, 4.545]，与 5 万轮参考解差 0.0000（旧版 α=0.1 差 34%）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精度：</a:t>
            </a:r>
            <a:r>
              <a:rPr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训练 99.50% / 测试 98.32% = 贝叶斯上限 98.31%（已触顶）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λ 扫描 A：</a:t>
            </a:r>
            <a:r>
              <a:rPr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原始 2 特征：λ 0→100 测试仅 98.32~98.40% —— 正则化无效（数据近可分，无过拟合空间）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λ 扫描 B：</a:t>
            </a:r>
            <a:r>
              <a:rPr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80 样本 + 27 个多项式特征：泛化 gap 2.70pp → 0.45pp（缩 83%）；λ=100 欠拟合崩到 42.5%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5" descr="decision_bound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84959"/>
            <a:ext cx="5212080" cy="4328160"/>
          </a:xfrm>
          <a:prstGeom prst="rect">
            <a:avLst/>
          </a:prstGeom>
          <a:ln w="9525">
            <a:solidFill>
              <a:srgbClr val="D8DFE7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TextBox 1"/>
          <p:cNvSpPr txBox="1"/>
          <p:nvPr/>
        </p:nvSpPr>
        <p:spPr>
          <a:xfrm>
            <a:off x="502920" y="274320"/>
            <a:ext cx="96012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097AF"/>
                </a:solidFill>
                <a:latin typeface="微软雅黑" panose="020B0503020204020204" charset="-122"/>
                <a:ea typeface="微软雅黑" panose="020B0503020204020204" charset="-122"/>
              </a:rPr>
              <a:t>03  任务③ ：正则化证据   </a:t>
            </a:r>
            <a:endParaRPr sz="11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2"/>
          <p:cNvSpPr/>
          <p:nvPr/>
        </p:nvSpPr>
        <p:spPr>
          <a:xfrm>
            <a:off x="530352" y="896112"/>
            <a:ext cx="1371600" cy="41148"/>
          </a:xfrm>
          <a:prstGeom prst="rect">
            <a:avLst/>
          </a:prstGeom>
          <a:solidFill>
            <a:srgbClr val="809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3"/>
          <p:cNvSpPr txBox="1"/>
          <p:nvPr/>
        </p:nvSpPr>
        <p:spPr>
          <a:xfrm>
            <a:off x="9966960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LION Stage 1 · 组会①</a:t>
            </a:r>
            <a:endParaRPr sz="9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4"/>
          <p:cNvSpPr txBox="1"/>
          <p:nvPr/>
        </p:nvSpPr>
        <p:spPr>
          <a:xfrm>
            <a:off x="428400" y="4438700"/>
            <a:ext cx="11340000" cy="1655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左：主实验损失下降曲线（α=1.0、5000 轮，交叉熵 + L2），全程无回升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中 (A)：原始 2 特征 / 200 样本 —— λ 从 0 扫到 100，‖θ_w‖ 由 8.59 压到 0.68，测试 acc 只在 98.32%~98.40% 浮动，gap 恒 ≈1.1pp → 数据近可分、本无过拟合空间，正则化无效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右 (B)：刻意造过拟合（80 样本 + 6 次多项式 = 27 特征）—— λ=0 时 gap 2.70pp；λ=1 时 gap 0.45pp（缩 83%）；λ=100 训练/测试一起崩到 42.5%（欠拟合，非发散）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判据是「泛化 gap = 训练 acc − 测试 acc」：训练准确率全程 99.50%，什么都看不出来</a:t>
            </a:r>
            <a:endParaRPr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20" descr="loss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00" y="1260000"/>
            <a:ext cx="11340000" cy="30956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1"/>
          <p:cNvSpPr txBox="1"/>
          <p:nvPr/>
        </p:nvSpPr>
        <p:spPr>
          <a:xfrm>
            <a:off x="502920" y="274320"/>
            <a:ext cx="96012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097AF"/>
                </a:solidFill>
                <a:latin typeface="微软雅黑" panose="020B0503020204020204" charset="-122"/>
                <a:ea typeface="微软雅黑" panose="020B0503020204020204" charset="-122"/>
              </a:rPr>
              <a:t>03  </a:t>
            </a:r>
            <a:r>
              <a:rPr sz="2200" b="1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失败实验记录</a:t>
            </a:r>
            <a:r>
              <a:rPr sz="11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sz="11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"/>
          <p:cNvSpPr/>
          <p:nvPr/>
        </p:nvSpPr>
        <p:spPr>
          <a:xfrm>
            <a:off x="530352" y="896112"/>
            <a:ext cx="1371600" cy="41148"/>
          </a:xfrm>
          <a:prstGeom prst="rect">
            <a:avLst/>
          </a:prstGeom>
          <a:solidFill>
            <a:srgbClr val="809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3"/>
          <p:cNvSpPr txBox="1"/>
          <p:nvPr/>
        </p:nvSpPr>
        <p:spPr>
          <a:xfrm>
            <a:off x="9966960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LION Stage 1 · 组会①</a:t>
            </a:r>
            <a:endParaRPr sz="9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4"/>
          <p:cNvSpPr txBox="1"/>
          <p:nvPr/>
        </p:nvSpPr>
        <p:spPr>
          <a:xfrm>
            <a:off x="502920" y="1188720"/>
            <a:ext cx="11155680" cy="1602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4B44"/>
                </a:solidFill>
                <a:latin typeface="微软雅黑" panose="020B0503020204020204" charset="-122"/>
                <a:ea typeface="微软雅黑" panose="020B0503020204020204" charset="-122"/>
              </a:rPr>
              <a:t>现象：</a:t>
            </a:r>
            <a:r>
              <a:rPr sz="14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最早版本（α=0.5、未缩放）loss 从 8.7×10⁶ 单调爆炸到 1.5×10⁵⁹，参数跑到 10²⁷ 量级。原始日志已归档：code-tasks/01-linear-regression/train_bug.log</a:t>
            </a:r>
            <a:endParaRPr sz="14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根因：</a:t>
            </a:r>
            <a:r>
              <a:rPr sz="14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收敛由“有效步长 = α·λmax”决定（λmax 是 XᵀX/m 的最大特征值）。MSE 口径下 α 稳定上限 = 1/λmax = 0.4842，α=0.5 超限，每轮放大约 1.065 倍 → 几何级发散。</a:t>
            </a:r>
            <a:endParaRPr sz="14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修复：</a:t>
            </a:r>
            <a:r>
              <a:rPr sz="14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α 降到 0.1 + 300 轮 → 与正规方程精确解差 4×10⁻⁵，损失全程单调。</a:t>
            </a:r>
            <a:endParaRPr sz="14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7" name="Table 5"/>
          <p:cNvGraphicFramePr>
            <a:graphicFrameLocks noGrp="1"/>
          </p:cNvGraphicFramePr>
          <p:nvPr/>
        </p:nvGraphicFramePr>
        <p:xfrm>
          <a:off x="502920" y="3520440"/>
          <a:ext cx="8686800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2011680"/>
                <a:gridCol w="201168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 整体放大 k 倍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λmax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 稳定上限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固定 α=0.1 的结果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1（原始）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2.07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0.97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稳定收敛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124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0.016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发散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1000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1.23×10⁶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1.6×10⁻⁶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发散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6"/>
          <p:cNvSpPr txBox="1"/>
          <p:nvPr/>
        </p:nvSpPr>
        <p:spPr>
          <a:xfrm>
            <a:off x="502920" y="5440680"/>
            <a:ext cx="11155680" cy="257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规律：</a:t>
            </a:r>
            <a:r>
              <a:rPr sz="14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特征放大 k 倍 → λmax 放大 k² 倍 → α 上限缩小 k² 倍。这就是“学习率与特征缩放是相乘关系”的定量含义</a:t>
            </a:r>
            <a:endParaRPr sz="14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1"/>
          <p:cNvGrpSpPr/>
          <p:nvPr/>
        </p:nvGrpSpPr>
        <p:grpSpPr>
          <a:xfrm>
            <a:off x="4618672" y="1951908"/>
            <a:ext cx="2954656" cy="2293405"/>
            <a:chOff x="4438604" y="2276639"/>
            <a:chExt cx="2954656" cy="2293405"/>
          </a:xfrm>
        </p:grpSpPr>
        <p:sp>
          <p:nvSpPr>
            <p:cNvPr id="31" name="文本框 13"/>
            <p:cNvSpPr txBox="1"/>
            <p:nvPr/>
          </p:nvSpPr>
          <p:spPr>
            <a:xfrm>
              <a:off x="4438604" y="3646714"/>
              <a:ext cx="295465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5400" b="1" i="0" dirty="0">
                  <a:solidFill>
                    <a:srgbClr val="44546A"/>
                  </a:solidFill>
                  <a:latin typeface="微软雅黑" panose="020B0503020204020204" charset="-122"/>
                  <a:cs typeface="+mn-ea"/>
                  <a:sym typeface="+mn-lt"/>
                </a:rPr>
                <a:t>问题与下周计划</a:t>
              </a:r>
              <a:endParaRPr lang="zh-CN" altLang="en-US" sz="5400" b="1" i="0" dirty="0">
                <a:solidFill>
                  <a:srgbClr val="44546A"/>
                </a:solidFill>
                <a:latin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32" name="组合 39"/>
            <p:cNvGrpSpPr/>
            <p:nvPr/>
          </p:nvGrpSpPr>
          <p:grpSpPr>
            <a:xfrm>
              <a:off x="5394469" y="2276639"/>
              <a:ext cx="1042926" cy="1042926"/>
              <a:chOff x="1611086" y="3162290"/>
              <a:chExt cx="1042926" cy="1042926"/>
            </a:xfrm>
          </p:grpSpPr>
          <p:sp>
            <p:nvSpPr>
              <p:cNvPr id="33" name="椭圆 11"/>
              <p:cNvSpPr/>
              <p:nvPr/>
            </p:nvSpPr>
            <p:spPr>
              <a:xfrm>
                <a:off x="1611086" y="3162290"/>
                <a:ext cx="1042926" cy="1042926"/>
              </a:xfrm>
              <a:prstGeom prst="ellipse">
                <a:avLst/>
              </a:prstGeom>
              <a:solidFill>
                <a:srgbClr val="8097A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" name="文本框 12"/>
              <p:cNvSpPr txBox="1"/>
              <p:nvPr/>
            </p:nvSpPr>
            <p:spPr>
              <a:xfrm>
                <a:off x="1774118" y="3360588"/>
                <a:ext cx="71686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b="1" i="1" dirty="0">
                    <a:solidFill>
                      <a:schemeClr val="bg1"/>
                    </a:solidFill>
                    <a:cs typeface="+mn-ea"/>
                    <a:sym typeface="+mn-lt"/>
                  </a:rPr>
                  <a:t>04</a:t>
                </a:r>
                <a:endParaRPr lang="en-US" altLang="zh-CN" sz="3600" b="1" i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1"/>
          <p:cNvSpPr txBox="1"/>
          <p:nvPr/>
        </p:nvSpPr>
        <p:spPr>
          <a:xfrm>
            <a:off x="502920" y="274320"/>
            <a:ext cx="96012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097AF"/>
                </a:solidFill>
                <a:latin typeface="微软雅黑" panose="020B0503020204020204" charset="-122"/>
                <a:ea typeface="微软雅黑" panose="020B0503020204020204" charset="-122"/>
              </a:rPr>
              <a:t>04  </a:t>
            </a:r>
            <a:r>
              <a:rPr sz="2200" b="1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本周主要问题与解决尝试</a:t>
            </a:r>
            <a:r>
              <a:rPr sz="11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sz="11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2"/>
          <p:cNvSpPr/>
          <p:nvPr/>
        </p:nvSpPr>
        <p:spPr>
          <a:xfrm>
            <a:off x="530352" y="896112"/>
            <a:ext cx="1371600" cy="41148"/>
          </a:xfrm>
          <a:prstGeom prst="rect">
            <a:avLst/>
          </a:prstGeom>
          <a:solidFill>
            <a:srgbClr val="809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"/>
          <p:cNvSpPr txBox="1"/>
          <p:nvPr/>
        </p:nvSpPr>
        <p:spPr>
          <a:xfrm>
            <a:off x="9966960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LION Stage 1 · 组会①</a:t>
            </a:r>
            <a:endParaRPr sz="9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0" name="Table 4"/>
          <p:cNvGraphicFramePr>
            <a:graphicFrameLocks noGrp="1"/>
          </p:cNvGraphicFramePr>
          <p:nvPr/>
        </p:nvGraphicFramePr>
        <p:xfrm>
          <a:off x="1417320" y="1245870"/>
          <a:ext cx="11155680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6240"/>
                <a:gridCol w="5120640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问题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解决尝试</a:t>
                      </a:r>
                      <a:endParaRPr sz="14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8097A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三个任务“跑通但未验证透”：loss 公式错 / 三法不同尺度 / 欠收敛 34%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与正规方程、5 万轮参考解对照；统一评估口径；补断言与 results.md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正则化“看起来没用”：λ 扫到 100 测试只动 0.08pp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定位为统计族根因（无过拟合空间）；用 80 样本 + 27 多项式特征制造过拟合做反证，gap 缩 83%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 上限口径混乱（0.4842 vs 0.9685）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MSE 口径 Hessian=2XᵀX/m，上限=1/λmax；1/(2m) 口径才是 2/λmax —— 已写进笔记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仓库未提交（最新 commit 停在 10-09）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4546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 git add -A &amp;&amp; commit &amp;&amp; push（组会前）</a:t>
                      </a:r>
                      <a:endParaRPr sz="1400" b="0" i="0">
                        <a:solidFill>
                          <a:srgbClr val="44546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3152" marR="73152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41" name="TextBox 5"/>
          <p:cNvSpPr txBox="1"/>
          <p:nvPr/>
        </p:nvSpPr>
        <p:spPr>
          <a:xfrm>
            <a:off x="502920" y="5120640"/>
            <a:ext cx="111556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方法论教训（本次最想记住的一句）：</a:t>
            </a:r>
            <a:r>
              <a:rPr sz="125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loss 曲线下降、准确率 99% 这类表面指标会骗人——三个任务的错误都是被表面指标掩盖的，必须做定量诊断（对照精确解、统一口径、独立测试集、贝叶斯上限）。</a:t>
            </a:r>
            <a:endParaRPr sz="125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 txBox="1"/>
          <p:nvPr/>
        </p:nvSpPr>
        <p:spPr>
          <a:xfrm>
            <a:off x="502920" y="274320"/>
            <a:ext cx="96012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097AF"/>
                </a:solidFill>
                <a:latin typeface="微软雅黑" panose="020B0503020204020204" charset="-122"/>
                <a:ea typeface="微软雅黑" panose="020B0503020204020204" charset="-122"/>
              </a:rPr>
              <a:t>04  </a:t>
            </a:r>
            <a:r>
              <a:rPr sz="2200" b="1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下周计划（10/22–10/29，具体可检查）</a:t>
            </a:r>
            <a:r>
              <a:rPr sz="11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sz="11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2"/>
          <p:cNvSpPr/>
          <p:nvPr/>
        </p:nvSpPr>
        <p:spPr>
          <a:xfrm>
            <a:off x="530352" y="896112"/>
            <a:ext cx="1371600" cy="41148"/>
          </a:xfrm>
          <a:prstGeom prst="rect">
            <a:avLst/>
          </a:prstGeom>
          <a:solidFill>
            <a:srgbClr val="809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3"/>
          <p:cNvSpPr txBox="1"/>
          <p:nvPr/>
        </p:nvSpPr>
        <p:spPr>
          <a:xfrm>
            <a:off x="9966960" y="64739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6"/>
                </a:solidFill>
                <a:latin typeface="微软雅黑" panose="020B0503020204020204" charset="-122"/>
                <a:ea typeface="微软雅黑" panose="020B0503020204020204" charset="-122"/>
              </a:rPr>
              <a:t>LION Stage 1 · 组会①</a:t>
            </a:r>
            <a:endParaRPr sz="900" b="0" i="0">
              <a:solidFill>
                <a:srgbClr val="8A94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"/>
          <p:cNvSpPr txBox="1"/>
          <p:nvPr/>
        </p:nvSpPr>
        <p:spPr>
          <a:xfrm>
            <a:off x="502920" y="1280160"/>
            <a:ext cx="11155680" cy="2834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视频：</a:t>
            </a: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Ch8 神经网络表示（8-1~8-7）+ Ch9 反向传播（9-1~9-7）；反向传播按计划要求手推一个 2-1-1 小网络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代码：代码任务⑤ 两层 MLP（NumPy 手搓前向 + 反向），MNIST 子集 90%+；同时建立 MNIST / FashionMNIST 基线脚本。任务④（KNN + 决策树对照）按计划排在 11/06，需先看 CS231n 图像分类与 KNN，本周不做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说明：任务③已提前 4 天完成（10/20，原排 10/24），Day9 腾出的时间用于 MLP 提前开工与 Ch10–11 速查表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笔记：lecture04（分类与正则化）已补完；补写 lecture05（神经网络表示）+ lecture06（反向传播手推与梯度检测）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诊断：</a:t>
            </a: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整理 Ch10-11 偏差/方差诊断与学习曲线速查表（Stage 2 复现天天要用）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流程：</a:t>
            </a: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10/28 提交周报②（手册 1.3 六项齐全）；10/29 组会② 汇报逻辑回归与 MLP 两个任务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600" b="1" i="0">
                <a:solidFill>
                  <a:srgbClr val="5A789C"/>
                </a:solidFill>
                <a:latin typeface="微软雅黑" panose="020B0503020204020204" charset="-122"/>
                <a:ea typeface="微软雅黑" panose="020B0503020204020204" charset="-122"/>
              </a:rPr>
              <a:t>▪ 今天：</a:t>
            </a:r>
            <a:r>
              <a:rPr sz="1600" b="0" i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</a:rPr>
              <a:t>组会① 反馈记入 notes/feedback.md；完成仓库 commit + push（yuzhang04/lion-stage1-yuzhang04）</a:t>
            </a:r>
            <a:endParaRPr sz="1600" b="0" i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 12"/>
          <p:cNvSpPr txBox="1"/>
          <p:nvPr/>
        </p:nvSpPr>
        <p:spPr>
          <a:xfrm>
            <a:off x="2464524" y="2620300"/>
            <a:ext cx="72629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rgbClr val="8097AF"/>
                </a:solidFill>
                <a:cs typeface="+mn-ea"/>
                <a:sym typeface="+mn-lt"/>
              </a:rPr>
              <a:t>谢谢各位老师指导</a:t>
            </a:r>
            <a:endParaRPr lang="zh-CN" altLang="en-US" sz="6600" b="1" dirty="0">
              <a:solidFill>
                <a:srgbClr val="8097AF"/>
              </a:solidFill>
              <a:cs typeface="+mn-ea"/>
              <a:sym typeface="+mn-lt"/>
            </a:endParaRPr>
          </a:p>
        </p:txBody>
      </p:sp>
      <p:grpSp>
        <p:nvGrpSpPr>
          <p:cNvPr id="50" name="组合 13"/>
          <p:cNvGrpSpPr/>
          <p:nvPr/>
        </p:nvGrpSpPr>
        <p:grpSpPr>
          <a:xfrm>
            <a:off x="3425648" y="4853149"/>
            <a:ext cx="5340704" cy="396154"/>
            <a:chOff x="3425648" y="3793562"/>
            <a:chExt cx="5340704" cy="396154"/>
          </a:xfrm>
        </p:grpSpPr>
        <p:sp>
          <p:nvSpPr>
            <p:cNvPr id="51" name="圆角矩形 6"/>
            <p:cNvSpPr>
              <a:spLocks noChangeArrowheads="1"/>
            </p:cNvSpPr>
            <p:nvPr/>
          </p:nvSpPr>
          <p:spPr bwMode="auto">
            <a:xfrm>
              <a:off x="3425648" y="3793648"/>
              <a:ext cx="5340704" cy="396068"/>
            </a:xfrm>
            <a:prstGeom prst="roundRect">
              <a:avLst>
                <a:gd name="adj" fmla="val 50000"/>
              </a:avLst>
            </a:prstGeom>
            <a:solidFill>
              <a:srgbClr val="8097AF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zh-CN" altLang="en-US" sz="2000" spc="15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2" name="文本框 17"/>
            <p:cNvSpPr txBox="1"/>
            <p:nvPr/>
          </p:nvSpPr>
          <p:spPr>
            <a:xfrm>
              <a:off x="4204805" y="3793562"/>
              <a:ext cx="3782060" cy="3683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chemeClr val="accent1"/>
                  </a:solidFill>
                  <a:effectLst>
                    <a:outerShdw dist="63500" dir="5400000" algn="tl" rotWithShape="0">
                      <a:prstClr val="black">
                        <a:alpha val="10000"/>
                      </a:prstClr>
                    </a:outerShdw>
                  </a:effectLst>
                  <a:latin typeface="DIN-BlackItalic" pitchFamily="50" charset="0"/>
                  <a:ea typeface="+mj-ea"/>
                </a:defRPr>
              </a:lvl1pPr>
            </a:lstStyle>
            <a:p>
              <a:pPr algn="l"/>
              <a:r>
                <a:rPr lang="zh-CN" altLang="en-US" sz="1800" b="0" i="0" dirty="0">
                  <a:solidFill>
                    <a:srgbClr val="44546A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汇报人：张雨    日期：2026-10-22</a:t>
              </a:r>
              <a:endParaRPr lang="zh-CN" altLang="en-US" sz="1800" dirty="0">
                <a:solidFill>
                  <a:schemeClr val="bg1"/>
                </a:solidFill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53" name="图形 24"/>
          <p:cNvSpPr/>
          <p:nvPr/>
        </p:nvSpPr>
        <p:spPr>
          <a:xfrm>
            <a:off x="5318113" y="1608697"/>
            <a:ext cx="1555774" cy="855169"/>
          </a:xfrm>
          <a:custGeom>
            <a:avLst/>
            <a:gdLst>
              <a:gd name="connsiteX0" fmla="*/ 543428 w 576238"/>
              <a:gd name="connsiteY0" fmla="*/ 274208 h 355968"/>
              <a:gd name="connsiteX1" fmla="*/ 543428 w 576238"/>
              <a:gd name="connsiteY1" fmla="*/ 338693 h 355968"/>
              <a:gd name="connsiteX2" fmla="*/ 541442 w 576238"/>
              <a:gd name="connsiteY2" fmla="*/ 343653 h 355968"/>
              <a:gd name="connsiteX3" fmla="*/ 535484 w 576238"/>
              <a:gd name="connsiteY3" fmla="*/ 345637 h 355968"/>
              <a:gd name="connsiteX4" fmla="*/ 517608 w 576238"/>
              <a:gd name="connsiteY4" fmla="*/ 354566 h 355968"/>
              <a:gd name="connsiteX5" fmla="*/ 512643 w 576238"/>
              <a:gd name="connsiteY5" fmla="*/ 355558 h 355968"/>
              <a:gd name="connsiteX6" fmla="*/ 509663 w 576238"/>
              <a:gd name="connsiteY6" fmla="*/ 350598 h 355968"/>
              <a:gd name="connsiteX7" fmla="*/ 514629 w 576238"/>
              <a:gd name="connsiteY7" fmla="*/ 277184 h 355968"/>
              <a:gd name="connsiteX8" fmla="*/ 543428 w 576238"/>
              <a:gd name="connsiteY8" fmla="*/ 274208 h 355968"/>
              <a:gd name="connsiteX9" fmla="*/ 288119 w 576238"/>
              <a:gd name="connsiteY9" fmla="*/ 251378 h 355968"/>
              <a:gd name="connsiteX10" fmla="*/ 126176 w 576238"/>
              <a:gd name="connsiteY10" fmla="*/ 274185 h 355968"/>
              <a:gd name="connsiteX11" fmla="*/ 288119 w 576238"/>
              <a:gd name="connsiteY11" fmla="*/ 296001 h 355968"/>
              <a:gd name="connsiteX12" fmla="*/ 450062 w 576238"/>
              <a:gd name="connsiteY12" fmla="*/ 274185 h 355968"/>
              <a:gd name="connsiteX13" fmla="*/ 288119 w 576238"/>
              <a:gd name="connsiteY13" fmla="*/ 251378 h 355968"/>
              <a:gd name="connsiteX14" fmla="*/ 288119 w 576238"/>
              <a:gd name="connsiteY14" fmla="*/ 126432 h 355968"/>
              <a:gd name="connsiteX15" fmla="*/ 111273 w 576238"/>
              <a:gd name="connsiteY15" fmla="*/ 178989 h 355968"/>
              <a:gd name="connsiteX16" fmla="*/ 111273 w 576238"/>
              <a:gd name="connsiteY16" fmla="*/ 190888 h 355968"/>
              <a:gd name="connsiteX17" fmla="*/ 288119 w 576238"/>
              <a:gd name="connsiteY17" fmla="*/ 144282 h 355968"/>
              <a:gd name="connsiteX18" fmla="*/ 464964 w 576238"/>
              <a:gd name="connsiteY18" fmla="*/ 190888 h 355968"/>
              <a:gd name="connsiteX19" fmla="*/ 464964 w 576238"/>
              <a:gd name="connsiteY19" fmla="*/ 178989 h 355968"/>
              <a:gd name="connsiteX20" fmla="*/ 288119 w 576238"/>
              <a:gd name="connsiteY20" fmla="*/ 126432 h 355968"/>
              <a:gd name="connsiteX21" fmla="*/ 288119 w 576238"/>
              <a:gd name="connsiteY21" fmla="*/ 0 h 355968"/>
              <a:gd name="connsiteX22" fmla="*/ 306002 w 576238"/>
              <a:gd name="connsiteY22" fmla="*/ 4462 h 355968"/>
              <a:gd name="connsiteX23" fmla="*/ 569284 w 576238"/>
              <a:gd name="connsiteY23" fmla="*/ 144282 h 355968"/>
              <a:gd name="connsiteX24" fmla="*/ 576238 w 576238"/>
              <a:gd name="connsiteY24" fmla="*/ 155190 h 355968"/>
              <a:gd name="connsiteX25" fmla="*/ 569284 w 576238"/>
              <a:gd name="connsiteY25" fmla="*/ 166098 h 355968"/>
              <a:gd name="connsiteX26" fmla="*/ 533517 w 576238"/>
              <a:gd name="connsiteY26" fmla="*/ 185930 h 355968"/>
              <a:gd name="connsiteX27" fmla="*/ 533517 w 576238"/>
              <a:gd name="connsiteY27" fmla="*/ 243445 h 355968"/>
              <a:gd name="connsiteX28" fmla="*/ 543452 w 576238"/>
              <a:gd name="connsiteY28" fmla="*/ 258319 h 355968"/>
              <a:gd name="connsiteX29" fmla="*/ 527556 w 576238"/>
              <a:gd name="connsiteY29" fmla="*/ 274185 h 355968"/>
              <a:gd name="connsiteX30" fmla="*/ 511660 w 576238"/>
              <a:gd name="connsiteY30" fmla="*/ 258319 h 355968"/>
              <a:gd name="connsiteX31" fmla="*/ 521595 w 576238"/>
              <a:gd name="connsiteY31" fmla="*/ 243445 h 355968"/>
              <a:gd name="connsiteX32" fmla="*/ 521595 w 576238"/>
              <a:gd name="connsiteY32" fmla="*/ 192872 h 355968"/>
              <a:gd name="connsiteX33" fmla="*/ 470925 w 576238"/>
              <a:gd name="connsiteY33" fmla="*/ 223612 h 355968"/>
              <a:gd name="connsiteX34" fmla="*/ 470925 w 576238"/>
              <a:gd name="connsiteY34" fmla="*/ 274185 h 355968"/>
              <a:gd name="connsiteX35" fmla="*/ 288119 w 576238"/>
              <a:gd name="connsiteY35" fmla="*/ 309884 h 355968"/>
              <a:gd name="connsiteX36" fmla="*/ 106306 w 576238"/>
              <a:gd name="connsiteY36" fmla="*/ 274185 h 355968"/>
              <a:gd name="connsiteX37" fmla="*/ 105312 w 576238"/>
              <a:gd name="connsiteY37" fmla="*/ 223612 h 355968"/>
              <a:gd name="connsiteX38" fmla="*/ 5961 w 576238"/>
              <a:gd name="connsiteY38" fmla="*/ 166098 h 355968"/>
              <a:gd name="connsiteX39" fmla="*/ 0 w 576238"/>
              <a:gd name="connsiteY39" fmla="*/ 155190 h 355968"/>
              <a:gd name="connsiteX40" fmla="*/ 6954 w 576238"/>
              <a:gd name="connsiteY40" fmla="*/ 144282 h 355968"/>
              <a:gd name="connsiteX41" fmla="*/ 270236 w 576238"/>
              <a:gd name="connsiteY41" fmla="*/ 4462 h 355968"/>
              <a:gd name="connsiteX42" fmla="*/ 288119 w 576238"/>
              <a:gd name="connsiteY42" fmla="*/ 0 h 355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76238" h="355968">
                <a:moveTo>
                  <a:pt x="543428" y="274208"/>
                </a:moveTo>
                <a:lnTo>
                  <a:pt x="543428" y="338693"/>
                </a:lnTo>
                <a:cubicBezTo>
                  <a:pt x="543428" y="340677"/>
                  <a:pt x="542435" y="341669"/>
                  <a:pt x="541442" y="343653"/>
                </a:cubicBezTo>
                <a:cubicBezTo>
                  <a:pt x="539456" y="344645"/>
                  <a:pt x="537470" y="345637"/>
                  <a:pt x="535484" y="345637"/>
                </a:cubicBezTo>
                <a:cubicBezTo>
                  <a:pt x="531511" y="345637"/>
                  <a:pt x="524560" y="347621"/>
                  <a:pt x="517608" y="354566"/>
                </a:cubicBezTo>
                <a:cubicBezTo>
                  <a:pt x="516615" y="355558"/>
                  <a:pt x="513636" y="356550"/>
                  <a:pt x="512643" y="355558"/>
                </a:cubicBezTo>
                <a:cubicBezTo>
                  <a:pt x="510656" y="354566"/>
                  <a:pt x="509663" y="352582"/>
                  <a:pt x="509663" y="350598"/>
                </a:cubicBezTo>
                <a:lnTo>
                  <a:pt x="514629" y="277184"/>
                </a:lnTo>
                <a:cubicBezTo>
                  <a:pt x="514629" y="277184"/>
                  <a:pt x="530518" y="288097"/>
                  <a:pt x="543428" y="274208"/>
                </a:cubicBezTo>
                <a:close/>
                <a:moveTo>
                  <a:pt x="288119" y="251378"/>
                </a:moveTo>
                <a:cubicBezTo>
                  <a:pt x="198703" y="251378"/>
                  <a:pt x="126176" y="261294"/>
                  <a:pt x="126176" y="274185"/>
                </a:cubicBezTo>
                <a:cubicBezTo>
                  <a:pt x="126176" y="286085"/>
                  <a:pt x="198703" y="296001"/>
                  <a:pt x="288119" y="296001"/>
                </a:cubicBezTo>
                <a:cubicBezTo>
                  <a:pt x="377535" y="296001"/>
                  <a:pt x="450062" y="286085"/>
                  <a:pt x="450062" y="274185"/>
                </a:cubicBezTo>
                <a:cubicBezTo>
                  <a:pt x="450062" y="261294"/>
                  <a:pt x="377535" y="251378"/>
                  <a:pt x="288119" y="251378"/>
                </a:cubicBezTo>
                <a:close/>
                <a:moveTo>
                  <a:pt x="288119" y="126432"/>
                </a:moveTo>
                <a:cubicBezTo>
                  <a:pt x="146046" y="126432"/>
                  <a:pt x="111273" y="178989"/>
                  <a:pt x="111273" y="178989"/>
                </a:cubicBezTo>
                <a:lnTo>
                  <a:pt x="111273" y="190888"/>
                </a:lnTo>
                <a:cubicBezTo>
                  <a:pt x="123195" y="177997"/>
                  <a:pt x="165917" y="144282"/>
                  <a:pt x="288119" y="144282"/>
                </a:cubicBezTo>
                <a:cubicBezTo>
                  <a:pt x="410321" y="144282"/>
                  <a:pt x="453042" y="177997"/>
                  <a:pt x="464964" y="190888"/>
                </a:cubicBezTo>
                <a:lnTo>
                  <a:pt x="464964" y="178989"/>
                </a:lnTo>
                <a:cubicBezTo>
                  <a:pt x="464964" y="178989"/>
                  <a:pt x="430191" y="126432"/>
                  <a:pt x="288119" y="126432"/>
                </a:cubicBezTo>
                <a:close/>
                <a:moveTo>
                  <a:pt x="288119" y="0"/>
                </a:moveTo>
                <a:cubicBezTo>
                  <a:pt x="294328" y="0"/>
                  <a:pt x="300538" y="1487"/>
                  <a:pt x="306002" y="4462"/>
                </a:cubicBezTo>
                <a:lnTo>
                  <a:pt x="569284" y="144282"/>
                </a:lnTo>
                <a:cubicBezTo>
                  <a:pt x="573258" y="146265"/>
                  <a:pt x="576238" y="150231"/>
                  <a:pt x="576238" y="155190"/>
                </a:cubicBezTo>
                <a:cubicBezTo>
                  <a:pt x="576238" y="160148"/>
                  <a:pt x="573258" y="164114"/>
                  <a:pt x="569284" y="166098"/>
                </a:cubicBezTo>
                <a:lnTo>
                  <a:pt x="533517" y="185930"/>
                </a:lnTo>
                <a:lnTo>
                  <a:pt x="533517" y="243445"/>
                </a:lnTo>
                <a:cubicBezTo>
                  <a:pt x="539478" y="245428"/>
                  <a:pt x="543452" y="251378"/>
                  <a:pt x="543452" y="258319"/>
                </a:cubicBezTo>
                <a:cubicBezTo>
                  <a:pt x="543452" y="266252"/>
                  <a:pt x="536498" y="274185"/>
                  <a:pt x="527556" y="274185"/>
                </a:cubicBezTo>
                <a:cubicBezTo>
                  <a:pt x="519608" y="274185"/>
                  <a:pt x="511660" y="266252"/>
                  <a:pt x="511660" y="258319"/>
                </a:cubicBezTo>
                <a:cubicBezTo>
                  <a:pt x="511660" y="251378"/>
                  <a:pt x="515634" y="245428"/>
                  <a:pt x="521595" y="243445"/>
                </a:cubicBezTo>
                <a:lnTo>
                  <a:pt x="521595" y="192872"/>
                </a:lnTo>
                <a:lnTo>
                  <a:pt x="470925" y="223612"/>
                </a:lnTo>
                <a:cubicBezTo>
                  <a:pt x="470925" y="223612"/>
                  <a:pt x="470925" y="272202"/>
                  <a:pt x="470925" y="274185"/>
                </a:cubicBezTo>
                <a:cubicBezTo>
                  <a:pt x="470925" y="294018"/>
                  <a:pt x="388464" y="309884"/>
                  <a:pt x="288119" y="309884"/>
                </a:cubicBezTo>
                <a:cubicBezTo>
                  <a:pt x="187774" y="309884"/>
                  <a:pt x="106306" y="294018"/>
                  <a:pt x="106306" y="274185"/>
                </a:cubicBezTo>
                <a:cubicBezTo>
                  <a:pt x="106306" y="272202"/>
                  <a:pt x="105312" y="223612"/>
                  <a:pt x="105312" y="223612"/>
                </a:cubicBezTo>
                <a:lnTo>
                  <a:pt x="5961" y="166098"/>
                </a:lnTo>
                <a:cubicBezTo>
                  <a:pt x="1987" y="164114"/>
                  <a:pt x="0" y="160148"/>
                  <a:pt x="0" y="155190"/>
                </a:cubicBezTo>
                <a:cubicBezTo>
                  <a:pt x="0" y="151223"/>
                  <a:pt x="2980" y="146265"/>
                  <a:pt x="6954" y="144282"/>
                </a:cubicBezTo>
                <a:lnTo>
                  <a:pt x="270236" y="4462"/>
                </a:lnTo>
                <a:cubicBezTo>
                  <a:pt x="275700" y="1487"/>
                  <a:pt x="281909" y="0"/>
                  <a:pt x="288119" y="0"/>
                </a:cubicBezTo>
                <a:close/>
              </a:path>
            </a:pathLst>
          </a:custGeom>
          <a:solidFill>
            <a:srgbClr val="8097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54" name="文本框 15"/>
          <p:cNvSpPr txBox="1"/>
          <p:nvPr/>
        </p:nvSpPr>
        <p:spPr>
          <a:xfrm>
            <a:off x="2166257" y="3853586"/>
            <a:ext cx="785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0" i="0" dirty="0">
                <a:solidFill>
                  <a:srgbClr val="44546A"/>
                </a:solidFill>
                <a:latin typeface="微软雅黑" panose="020B0503020204020204" charset="-122"/>
                <a:cs typeface="+mn-ea"/>
                <a:sym typeface="+mn-lt"/>
              </a:rPr>
              <a:t>仓库：E:\lion-stage1-yuzhang ｜ 周报①：reports/周报01_第1周.md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2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3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4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5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6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7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8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9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10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11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12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13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14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15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16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17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ags/tag18.xml><?xml version="1.0" encoding="utf-8"?>
<p:tagLst xmlns:p="http://schemas.openxmlformats.org/presentationml/2006/main">
  <p:tag name="KSO_WM_DIAGRAM_VIRTUALLY_FRAME" val="{&quot;height&quot;:181.78842519685037,&quot;left&quot;:106.91377952755906,&quot;top&quot;:248.86905511811023,&quot;width&quot;:746.1724409448819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cvnsjij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4570</Words>
  <Application>WPS 演示</Application>
  <PresentationFormat/>
  <Paragraphs>349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DIN-BlackItalic</vt:lpstr>
      <vt:lpstr>Segoe Print</vt:lpstr>
      <vt:lpstr>Segoe UI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张雨</cp:lastModifiedBy>
  <cp:revision>3</cp:revision>
  <dcterms:created xsi:type="dcterms:W3CDTF">2026-10-21T13:37:00Z</dcterms:created>
  <dcterms:modified xsi:type="dcterms:W3CDTF">2026-10-21T14:40:41Z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8DE3015654D94A289840503A70E0B655</vt:lpwstr>
  </property>
  <property fmtid="{D5CDD505-2E9C-101B-9397-08002B2CF9AE}" pid="3" name="KSOProductBuildVer">
    <vt:lpwstr>2052-12.1.0.28043</vt:lpwstr>
  </property>
  <property fmtid="{D5CDD505-2E9C-101B-9397-08002B2CF9AE}" pid="4" name="KSOTemplateUUID">
    <vt:lpwstr>v1.0_mb_GSyBb+098AtbRXjI/ork+A==</vt:lpwstr>
  </property>
</Properties>
</file>